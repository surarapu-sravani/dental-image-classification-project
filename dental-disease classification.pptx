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5"/>
  </p:notesMasterIdLst>
  <p:sldIdLst>
    <p:sldId id="256" r:id="rId2"/>
    <p:sldId id="311" r:id="rId3"/>
    <p:sldId id="312" r:id="rId4"/>
    <p:sldId id="326" r:id="rId5"/>
    <p:sldId id="313" r:id="rId6"/>
    <p:sldId id="327" r:id="rId7"/>
    <p:sldId id="328" r:id="rId8"/>
    <p:sldId id="329" r:id="rId9"/>
    <p:sldId id="314" r:id="rId10"/>
    <p:sldId id="315" r:id="rId11"/>
    <p:sldId id="316" r:id="rId12"/>
    <p:sldId id="330" r:id="rId13"/>
    <p:sldId id="325" r:id="rId14"/>
    <p:sldId id="317" r:id="rId15"/>
    <p:sldId id="318" r:id="rId16"/>
    <p:sldId id="332" r:id="rId17"/>
    <p:sldId id="323" r:id="rId18"/>
    <p:sldId id="319" r:id="rId19"/>
    <p:sldId id="324" r:id="rId20"/>
    <p:sldId id="320" r:id="rId21"/>
    <p:sldId id="321" r:id="rId22"/>
    <p:sldId id="322" r:id="rId23"/>
    <p:sldId id="333" r:id="rId24"/>
  </p:sldIdLst>
  <p:sldSz cx="9144000" cy="5143500" type="screen16x9"/>
  <p:notesSz cx="6858000" cy="9144000"/>
  <p:embeddedFontLst>
    <p:embeddedFont>
      <p:font typeface="Cuprum" panose="020B0604020202020204" charset="0"/>
      <p:regular r:id="rId26"/>
      <p:bold r:id="rId27"/>
      <p:italic r:id="rId28"/>
      <p:boldItalic r:id="rId29"/>
    </p:embeddedFont>
    <p:embeddedFont>
      <p:font typeface="Didact Gothic" panose="00000500000000000000" pitchFamily="2" charset="0"/>
      <p:regular r:id="rId30"/>
    </p:embeddedFont>
    <p:embeddedFont>
      <p:font typeface="Helvetica" panose="020B0604020202020204" pitchFamily="3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40C76F9-63FB-43B9-9354-44C5E24EED4A}">
  <a:tblStyle styleId="{D40C76F9-63FB-43B9-9354-44C5E24EED4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55C91F6-813B-4BC4-B899-5E11CCCE9811}"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9c725d4c4c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29c725d4c4c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80000"/>
          </a:blip>
          <a:srcRect t="2095"/>
          <a:stretch/>
        </p:blipFill>
        <p:spPr>
          <a:xfrm>
            <a:off x="6763" y="0"/>
            <a:ext cx="9130474" cy="5143500"/>
          </a:xfrm>
          <a:prstGeom prst="rect">
            <a:avLst/>
          </a:prstGeom>
          <a:noFill/>
          <a:ln>
            <a:noFill/>
          </a:ln>
        </p:spPr>
      </p:pic>
      <p:sp>
        <p:nvSpPr>
          <p:cNvPr id="10" name="Google Shape;10;p2"/>
          <p:cNvSpPr txBox="1">
            <a:spLocks noGrp="1"/>
          </p:cNvSpPr>
          <p:nvPr>
            <p:ph type="ctrTitle"/>
          </p:nvPr>
        </p:nvSpPr>
        <p:spPr>
          <a:xfrm>
            <a:off x="713225" y="1697098"/>
            <a:ext cx="3878100" cy="1445100"/>
          </a:xfrm>
          <a:prstGeom prst="rect">
            <a:avLst/>
          </a:prstGeom>
          <a:effectLst>
            <a:outerShdw blurRad="142875" algn="bl" rotWithShape="0">
              <a:schemeClr val="accent1"/>
            </a:outerShdw>
          </a:effectLst>
        </p:spPr>
        <p:txBody>
          <a:bodyPr spcFirstLastPara="1" wrap="square" lIns="91425" tIns="91425" rIns="91425" bIns="91425" anchor="b" anchorCtr="0">
            <a:noAutofit/>
          </a:bodyPr>
          <a:lstStyle>
            <a:lvl1pPr lvl="0" algn="l">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225" y="3186850"/>
            <a:ext cx="3878100" cy="447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Font typeface="Helvetica"/>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317850" y="227950"/>
            <a:ext cx="8508300" cy="4687600"/>
            <a:chOff x="317850" y="227950"/>
            <a:chExt cx="8508300" cy="4687600"/>
          </a:xfrm>
        </p:grpSpPr>
        <p:cxnSp>
          <p:nvCxnSpPr>
            <p:cNvPr id="13" name="Google Shape;13;p2"/>
            <p:cNvCxnSpPr/>
            <p:nvPr/>
          </p:nvCxnSpPr>
          <p:spPr>
            <a:xfrm>
              <a:off x="317850" y="227950"/>
              <a:ext cx="8508300" cy="0"/>
            </a:xfrm>
            <a:prstGeom prst="straightConnector1">
              <a:avLst/>
            </a:prstGeom>
            <a:noFill/>
            <a:ln w="9525" cap="flat" cmpd="sng">
              <a:solidFill>
                <a:schemeClr val="dk2"/>
              </a:solidFill>
              <a:prstDash val="solid"/>
              <a:round/>
              <a:headEnd type="none" w="med" len="med"/>
              <a:tailEnd type="none" w="med" len="med"/>
            </a:ln>
          </p:spPr>
        </p:cxnSp>
        <p:cxnSp>
          <p:nvCxnSpPr>
            <p:cNvPr id="14" name="Google Shape;14;p2"/>
            <p:cNvCxnSpPr/>
            <p:nvPr/>
          </p:nvCxnSpPr>
          <p:spPr>
            <a:xfrm>
              <a:off x="317850" y="4915550"/>
              <a:ext cx="85083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mt="80000"/>
          </a:blip>
          <a:srcRect t="2095"/>
          <a:stretch/>
        </p:blipFill>
        <p:spPr>
          <a:xfrm>
            <a:off x="6763" y="0"/>
            <a:ext cx="9130474" cy="5143500"/>
          </a:xfrm>
          <a:prstGeom prst="rect">
            <a:avLst/>
          </a:prstGeom>
          <a:noFill/>
          <a:ln>
            <a:noFill/>
          </a:ln>
        </p:spPr>
      </p:pic>
      <p:grpSp>
        <p:nvGrpSpPr>
          <p:cNvPr id="17" name="Google Shape;17;p3"/>
          <p:cNvGrpSpPr/>
          <p:nvPr/>
        </p:nvGrpSpPr>
        <p:grpSpPr>
          <a:xfrm>
            <a:off x="317850" y="227950"/>
            <a:ext cx="8508300" cy="4687600"/>
            <a:chOff x="317850" y="227950"/>
            <a:chExt cx="8508300" cy="4687600"/>
          </a:xfrm>
        </p:grpSpPr>
        <p:cxnSp>
          <p:nvCxnSpPr>
            <p:cNvPr id="18" name="Google Shape;18;p3"/>
            <p:cNvCxnSpPr/>
            <p:nvPr/>
          </p:nvCxnSpPr>
          <p:spPr>
            <a:xfrm>
              <a:off x="317850" y="227950"/>
              <a:ext cx="8508300" cy="0"/>
            </a:xfrm>
            <a:prstGeom prst="straightConnector1">
              <a:avLst/>
            </a:prstGeom>
            <a:noFill/>
            <a:ln w="9525" cap="flat" cmpd="sng">
              <a:solidFill>
                <a:schemeClr val="dk2"/>
              </a:solidFill>
              <a:prstDash val="solid"/>
              <a:round/>
              <a:headEnd type="none" w="med" len="med"/>
              <a:tailEnd type="none" w="med" len="med"/>
            </a:ln>
          </p:spPr>
        </p:cxnSp>
        <p:cxnSp>
          <p:nvCxnSpPr>
            <p:cNvPr id="19" name="Google Shape;19;p3"/>
            <p:cNvCxnSpPr/>
            <p:nvPr/>
          </p:nvCxnSpPr>
          <p:spPr>
            <a:xfrm>
              <a:off x="317850" y="4915550"/>
              <a:ext cx="8508300" cy="0"/>
            </a:xfrm>
            <a:prstGeom prst="straightConnector1">
              <a:avLst/>
            </a:prstGeom>
            <a:noFill/>
            <a:ln w="9525" cap="flat" cmpd="sng">
              <a:solidFill>
                <a:schemeClr val="dk2"/>
              </a:solidFill>
              <a:prstDash val="solid"/>
              <a:round/>
              <a:headEnd type="none" w="med" len="med"/>
              <a:tailEnd type="none" w="med" len="med"/>
            </a:ln>
          </p:spPr>
        </p:cxnSp>
      </p:grpSp>
      <p:sp>
        <p:nvSpPr>
          <p:cNvPr id="20" name="Google Shape;20;p3"/>
          <p:cNvSpPr txBox="1">
            <a:spLocks noGrp="1"/>
          </p:cNvSpPr>
          <p:nvPr>
            <p:ph type="title"/>
          </p:nvPr>
        </p:nvSpPr>
        <p:spPr>
          <a:xfrm>
            <a:off x="713225" y="2537638"/>
            <a:ext cx="4163400" cy="1511400"/>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title" idx="2" hasCustomPrompt="1"/>
          </p:nvPr>
        </p:nvSpPr>
        <p:spPr>
          <a:xfrm>
            <a:off x="848400" y="1212138"/>
            <a:ext cx="1151400" cy="915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8"/>
        <p:cNvGrpSpPr/>
        <p:nvPr/>
      </p:nvGrpSpPr>
      <p:grpSpPr>
        <a:xfrm>
          <a:off x="0" y="0"/>
          <a:ext cx="0" cy="0"/>
          <a:chOff x="0" y="0"/>
          <a:chExt cx="0" cy="0"/>
        </a:xfrm>
      </p:grpSpPr>
      <p:pic>
        <p:nvPicPr>
          <p:cNvPr id="229" name="Google Shape;229;p28"/>
          <p:cNvPicPr preferRelativeResize="0"/>
          <p:nvPr/>
        </p:nvPicPr>
        <p:blipFill rotWithShape="1">
          <a:blip r:embed="rId2">
            <a:alphaModFix amt="80000"/>
          </a:blip>
          <a:srcRect t="2095"/>
          <a:stretch/>
        </p:blipFill>
        <p:spPr>
          <a:xfrm>
            <a:off x="6763" y="0"/>
            <a:ext cx="9130474" cy="5143500"/>
          </a:xfrm>
          <a:prstGeom prst="rect">
            <a:avLst/>
          </a:prstGeom>
          <a:noFill/>
          <a:ln>
            <a:noFill/>
          </a:ln>
        </p:spPr>
      </p:pic>
      <p:grpSp>
        <p:nvGrpSpPr>
          <p:cNvPr id="230" name="Google Shape;230;p28"/>
          <p:cNvGrpSpPr/>
          <p:nvPr/>
        </p:nvGrpSpPr>
        <p:grpSpPr>
          <a:xfrm>
            <a:off x="317850" y="227950"/>
            <a:ext cx="8508300" cy="4687600"/>
            <a:chOff x="317850" y="227950"/>
            <a:chExt cx="8508300" cy="4687600"/>
          </a:xfrm>
        </p:grpSpPr>
        <p:cxnSp>
          <p:nvCxnSpPr>
            <p:cNvPr id="231" name="Google Shape;231;p28"/>
            <p:cNvCxnSpPr/>
            <p:nvPr/>
          </p:nvCxnSpPr>
          <p:spPr>
            <a:xfrm>
              <a:off x="317850" y="227950"/>
              <a:ext cx="8508300" cy="0"/>
            </a:xfrm>
            <a:prstGeom prst="straightConnector1">
              <a:avLst/>
            </a:prstGeom>
            <a:noFill/>
            <a:ln w="9525" cap="flat" cmpd="sng">
              <a:solidFill>
                <a:schemeClr val="dk2"/>
              </a:solidFill>
              <a:prstDash val="solid"/>
              <a:round/>
              <a:headEnd type="none" w="med" len="med"/>
              <a:tailEnd type="none" w="med" len="med"/>
            </a:ln>
          </p:spPr>
        </p:cxnSp>
        <p:cxnSp>
          <p:nvCxnSpPr>
            <p:cNvPr id="232" name="Google Shape;232;p28"/>
            <p:cNvCxnSpPr/>
            <p:nvPr/>
          </p:nvCxnSpPr>
          <p:spPr>
            <a:xfrm>
              <a:off x="317850" y="4915550"/>
              <a:ext cx="85083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33"/>
        <p:cNvGrpSpPr/>
        <p:nvPr/>
      </p:nvGrpSpPr>
      <p:grpSpPr>
        <a:xfrm>
          <a:off x="0" y="0"/>
          <a:ext cx="0" cy="0"/>
          <a:chOff x="0" y="0"/>
          <a:chExt cx="0" cy="0"/>
        </a:xfrm>
      </p:grpSpPr>
      <p:pic>
        <p:nvPicPr>
          <p:cNvPr id="234" name="Google Shape;234;p29"/>
          <p:cNvPicPr preferRelativeResize="0"/>
          <p:nvPr/>
        </p:nvPicPr>
        <p:blipFill rotWithShape="1">
          <a:blip r:embed="rId2">
            <a:alphaModFix amt="80000"/>
          </a:blip>
          <a:srcRect l="4237" t="1917" r="4237" b="8476"/>
          <a:stretch/>
        </p:blipFill>
        <p:spPr>
          <a:xfrm>
            <a:off x="-12" y="0"/>
            <a:ext cx="9144000" cy="5143500"/>
          </a:xfrm>
          <a:prstGeom prst="rect">
            <a:avLst/>
          </a:prstGeom>
          <a:noFill/>
          <a:ln>
            <a:noFill/>
          </a:ln>
        </p:spPr>
      </p:pic>
      <p:grpSp>
        <p:nvGrpSpPr>
          <p:cNvPr id="235" name="Google Shape;235;p29"/>
          <p:cNvGrpSpPr/>
          <p:nvPr/>
        </p:nvGrpSpPr>
        <p:grpSpPr>
          <a:xfrm>
            <a:off x="317850" y="227950"/>
            <a:ext cx="8508300" cy="4687600"/>
            <a:chOff x="317850" y="227950"/>
            <a:chExt cx="8508300" cy="4687600"/>
          </a:xfrm>
        </p:grpSpPr>
        <p:cxnSp>
          <p:nvCxnSpPr>
            <p:cNvPr id="236" name="Google Shape;236;p29"/>
            <p:cNvCxnSpPr/>
            <p:nvPr/>
          </p:nvCxnSpPr>
          <p:spPr>
            <a:xfrm>
              <a:off x="317850" y="227950"/>
              <a:ext cx="8508300" cy="0"/>
            </a:xfrm>
            <a:prstGeom prst="straightConnector1">
              <a:avLst/>
            </a:prstGeom>
            <a:noFill/>
            <a:ln w="9525" cap="flat" cmpd="sng">
              <a:solidFill>
                <a:schemeClr val="dk2"/>
              </a:solidFill>
              <a:prstDash val="solid"/>
              <a:round/>
              <a:headEnd type="none" w="med" len="med"/>
              <a:tailEnd type="none" w="med" len="med"/>
            </a:ln>
          </p:spPr>
        </p:cxnSp>
        <p:cxnSp>
          <p:nvCxnSpPr>
            <p:cNvPr id="237" name="Google Shape;237;p29"/>
            <p:cNvCxnSpPr/>
            <p:nvPr/>
          </p:nvCxnSpPr>
          <p:spPr>
            <a:xfrm>
              <a:off x="317850" y="4915550"/>
              <a:ext cx="85083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Cuprum"/>
              <a:buNone/>
              <a:defRPr sz="3000">
                <a:solidFill>
                  <a:schemeClr val="dk1"/>
                </a:solidFill>
                <a:latin typeface="Cuprum"/>
                <a:ea typeface="Cuprum"/>
                <a:cs typeface="Cuprum"/>
                <a:sym typeface="Cuprum"/>
              </a:defRPr>
            </a:lvl1pPr>
            <a:lvl2pPr lvl="1" rtl="0">
              <a:spcBef>
                <a:spcPts val="0"/>
              </a:spcBef>
              <a:spcAft>
                <a:spcPts val="0"/>
              </a:spcAft>
              <a:buClr>
                <a:schemeClr val="dk1"/>
              </a:buClr>
              <a:buSzPts val="3500"/>
              <a:buFont typeface="Cuprum"/>
              <a:buNone/>
              <a:defRPr sz="3500" b="1">
                <a:solidFill>
                  <a:schemeClr val="dk1"/>
                </a:solidFill>
                <a:latin typeface="Cuprum"/>
                <a:ea typeface="Cuprum"/>
                <a:cs typeface="Cuprum"/>
                <a:sym typeface="Cuprum"/>
              </a:defRPr>
            </a:lvl2pPr>
            <a:lvl3pPr lvl="2" rtl="0">
              <a:spcBef>
                <a:spcPts val="0"/>
              </a:spcBef>
              <a:spcAft>
                <a:spcPts val="0"/>
              </a:spcAft>
              <a:buClr>
                <a:schemeClr val="dk1"/>
              </a:buClr>
              <a:buSzPts val="3500"/>
              <a:buFont typeface="Cuprum"/>
              <a:buNone/>
              <a:defRPr sz="3500" b="1">
                <a:solidFill>
                  <a:schemeClr val="dk1"/>
                </a:solidFill>
                <a:latin typeface="Cuprum"/>
                <a:ea typeface="Cuprum"/>
                <a:cs typeface="Cuprum"/>
                <a:sym typeface="Cuprum"/>
              </a:defRPr>
            </a:lvl3pPr>
            <a:lvl4pPr lvl="3" rtl="0">
              <a:spcBef>
                <a:spcPts val="0"/>
              </a:spcBef>
              <a:spcAft>
                <a:spcPts val="0"/>
              </a:spcAft>
              <a:buClr>
                <a:schemeClr val="dk1"/>
              </a:buClr>
              <a:buSzPts val="3500"/>
              <a:buFont typeface="Cuprum"/>
              <a:buNone/>
              <a:defRPr sz="3500" b="1">
                <a:solidFill>
                  <a:schemeClr val="dk1"/>
                </a:solidFill>
                <a:latin typeface="Cuprum"/>
                <a:ea typeface="Cuprum"/>
                <a:cs typeface="Cuprum"/>
                <a:sym typeface="Cuprum"/>
              </a:defRPr>
            </a:lvl4pPr>
            <a:lvl5pPr lvl="4" rtl="0">
              <a:spcBef>
                <a:spcPts val="0"/>
              </a:spcBef>
              <a:spcAft>
                <a:spcPts val="0"/>
              </a:spcAft>
              <a:buClr>
                <a:schemeClr val="dk1"/>
              </a:buClr>
              <a:buSzPts val="3500"/>
              <a:buFont typeface="Cuprum"/>
              <a:buNone/>
              <a:defRPr sz="3500" b="1">
                <a:solidFill>
                  <a:schemeClr val="dk1"/>
                </a:solidFill>
                <a:latin typeface="Cuprum"/>
                <a:ea typeface="Cuprum"/>
                <a:cs typeface="Cuprum"/>
                <a:sym typeface="Cuprum"/>
              </a:defRPr>
            </a:lvl5pPr>
            <a:lvl6pPr lvl="5" rtl="0">
              <a:spcBef>
                <a:spcPts val="0"/>
              </a:spcBef>
              <a:spcAft>
                <a:spcPts val="0"/>
              </a:spcAft>
              <a:buClr>
                <a:schemeClr val="dk1"/>
              </a:buClr>
              <a:buSzPts val="3500"/>
              <a:buFont typeface="Cuprum"/>
              <a:buNone/>
              <a:defRPr sz="3500" b="1">
                <a:solidFill>
                  <a:schemeClr val="dk1"/>
                </a:solidFill>
                <a:latin typeface="Cuprum"/>
                <a:ea typeface="Cuprum"/>
                <a:cs typeface="Cuprum"/>
                <a:sym typeface="Cuprum"/>
              </a:defRPr>
            </a:lvl6pPr>
            <a:lvl7pPr lvl="6" rtl="0">
              <a:spcBef>
                <a:spcPts val="0"/>
              </a:spcBef>
              <a:spcAft>
                <a:spcPts val="0"/>
              </a:spcAft>
              <a:buClr>
                <a:schemeClr val="dk1"/>
              </a:buClr>
              <a:buSzPts val="3500"/>
              <a:buFont typeface="Cuprum"/>
              <a:buNone/>
              <a:defRPr sz="3500" b="1">
                <a:solidFill>
                  <a:schemeClr val="dk1"/>
                </a:solidFill>
                <a:latin typeface="Cuprum"/>
                <a:ea typeface="Cuprum"/>
                <a:cs typeface="Cuprum"/>
                <a:sym typeface="Cuprum"/>
              </a:defRPr>
            </a:lvl7pPr>
            <a:lvl8pPr lvl="7" rtl="0">
              <a:spcBef>
                <a:spcPts val="0"/>
              </a:spcBef>
              <a:spcAft>
                <a:spcPts val="0"/>
              </a:spcAft>
              <a:buClr>
                <a:schemeClr val="dk1"/>
              </a:buClr>
              <a:buSzPts val="3500"/>
              <a:buFont typeface="Cuprum"/>
              <a:buNone/>
              <a:defRPr sz="3500" b="1">
                <a:solidFill>
                  <a:schemeClr val="dk1"/>
                </a:solidFill>
                <a:latin typeface="Cuprum"/>
                <a:ea typeface="Cuprum"/>
                <a:cs typeface="Cuprum"/>
                <a:sym typeface="Cuprum"/>
              </a:defRPr>
            </a:lvl8pPr>
            <a:lvl9pPr lvl="8" rtl="0">
              <a:spcBef>
                <a:spcPts val="0"/>
              </a:spcBef>
              <a:spcAft>
                <a:spcPts val="0"/>
              </a:spcAft>
              <a:buClr>
                <a:schemeClr val="dk1"/>
              </a:buClr>
              <a:buSzPts val="3500"/>
              <a:buFont typeface="Cuprum"/>
              <a:buNone/>
              <a:defRPr sz="3500" b="1">
                <a:solidFill>
                  <a:schemeClr val="dk1"/>
                </a:solidFill>
                <a:latin typeface="Cuprum"/>
                <a:ea typeface="Cuprum"/>
                <a:cs typeface="Cuprum"/>
                <a:sym typeface="Cuprum"/>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1pPr>
            <a:lvl2pPr marL="914400" lvl="1"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2pPr>
            <a:lvl3pPr marL="1371600" lvl="2"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lvl="3"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lvl="4"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lvl="5"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lvl="6"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lvl="7"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lvl="8"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8" r:id="rId3"/>
    <p:sldLayoutId id="2147483674" r:id="rId4"/>
    <p:sldLayoutId id="2147483675"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pic>
        <p:nvPicPr>
          <p:cNvPr id="248" name="Google Shape;248;p33"/>
          <p:cNvPicPr preferRelativeResize="0"/>
          <p:nvPr/>
        </p:nvPicPr>
        <p:blipFill rotWithShape="1">
          <a:blip r:embed="rId3">
            <a:alphaModFix/>
          </a:blip>
          <a:srcRect t="10857"/>
          <a:stretch/>
        </p:blipFill>
        <p:spPr>
          <a:xfrm rot="1243730">
            <a:off x="4977622" y="1439010"/>
            <a:ext cx="4285325" cy="3495679"/>
          </a:xfrm>
          <a:prstGeom prst="rect">
            <a:avLst/>
          </a:prstGeom>
          <a:noFill/>
          <a:ln>
            <a:noFill/>
          </a:ln>
          <a:effectLst>
            <a:outerShdw blurRad="100013" dist="38100" dir="9480000" algn="bl" rotWithShape="0">
              <a:schemeClr val="accent2">
                <a:alpha val="26000"/>
              </a:schemeClr>
            </a:outerShdw>
          </a:effectLst>
        </p:spPr>
      </p:pic>
      <p:sp>
        <p:nvSpPr>
          <p:cNvPr id="249" name="Google Shape;249;p33"/>
          <p:cNvSpPr txBox="1">
            <a:spLocks noGrp="1"/>
          </p:cNvSpPr>
          <p:nvPr>
            <p:ph type="ctrTitle"/>
          </p:nvPr>
        </p:nvSpPr>
        <p:spPr>
          <a:xfrm>
            <a:off x="192833" y="292044"/>
            <a:ext cx="8007029" cy="1445100"/>
          </a:xfrm>
          <a:prstGeom prst="rect">
            <a:avLst/>
          </a:prstGeom>
        </p:spPr>
        <p:txBody>
          <a:bodyPr spcFirstLastPara="1" wrap="square" lIns="91425" tIns="91425" rIns="91425" bIns="91425" anchor="b" anchorCtr="0">
            <a:noAutofit/>
          </a:bodyPr>
          <a:lstStyle/>
          <a:p>
            <a:pPr lvl="0"/>
            <a:r>
              <a:rPr lang="en-US" sz="2400" dirty="0">
                <a:solidFill>
                  <a:schemeClr val="bg1">
                    <a:lumMod val="50000"/>
                  </a:schemeClr>
                </a:solidFill>
                <a:latin typeface="Times New Roman" panose="02020603050405020304" pitchFamily="18" charset="0"/>
                <a:cs typeface="Times New Roman" panose="02020603050405020304" pitchFamily="18" charset="0"/>
              </a:rPr>
              <a:t>Improved Integrated Deep Learning Framework with Support Vector Machine for Dental Health Analysis</a:t>
            </a:r>
            <a:endParaRPr sz="24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4" name="Subtitle 3">
            <a:extLst>
              <a:ext uri="{FF2B5EF4-FFF2-40B4-BE49-F238E27FC236}">
                <a16:creationId xmlns:a16="http://schemas.microsoft.com/office/drawing/2014/main" id="{70C49AD2-87EE-852A-F1C8-88D69FE58E98}"/>
              </a:ext>
            </a:extLst>
          </p:cNvPr>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C0125-F8AC-FEAE-633C-9DA6958693EE}"/>
              </a:ext>
            </a:extLst>
          </p:cNvPr>
          <p:cNvSpPr>
            <a:spLocks noGrp="1"/>
          </p:cNvSpPr>
          <p:nvPr>
            <p:ph type="title"/>
          </p:nvPr>
        </p:nvSpPr>
        <p:spPr>
          <a:xfrm>
            <a:off x="3375102" y="470946"/>
            <a:ext cx="1598342" cy="777991"/>
          </a:xfrm>
        </p:spPr>
        <p:txBody>
          <a:bodyPr/>
          <a:lstStyle/>
          <a:p>
            <a:r>
              <a:rPr lang="en-US" sz="2800" dirty="0">
                <a:solidFill>
                  <a:schemeClr val="bg1">
                    <a:lumMod val="50000"/>
                  </a:schemeClr>
                </a:solidFill>
                <a:latin typeface="Times New Roman" panose="02020603050405020304" pitchFamily="18" charset="0"/>
                <a:cs typeface="Times New Roman" panose="02020603050405020304" pitchFamily="18" charset="0"/>
              </a:rPr>
              <a:t>Abstract</a:t>
            </a:r>
            <a:endParaRPr lang="en-IN" sz="28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D453714-87BD-2BC9-4EB8-C75AC3AE346D}"/>
              </a:ext>
            </a:extLst>
          </p:cNvPr>
          <p:cNvSpPr txBox="1"/>
          <p:nvPr/>
        </p:nvSpPr>
        <p:spPr>
          <a:xfrm>
            <a:off x="906966" y="1419922"/>
            <a:ext cx="7330068" cy="2031325"/>
          </a:xfrm>
          <a:custGeom>
            <a:avLst/>
            <a:gdLst>
              <a:gd name="csX0" fmla="*/ 0 w 7330068"/>
              <a:gd name="csY0" fmla="*/ 0 h 2031325"/>
              <a:gd name="csX1" fmla="*/ 739670 w 7330068"/>
              <a:gd name="csY1" fmla="*/ 0 h 2031325"/>
              <a:gd name="csX2" fmla="*/ 1406040 w 7330068"/>
              <a:gd name="csY2" fmla="*/ 0 h 2031325"/>
              <a:gd name="csX3" fmla="*/ 2219011 w 7330068"/>
              <a:gd name="csY3" fmla="*/ 0 h 2031325"/>
              <a:gd name="csX4" fmla="*/ 2958682 w 7330068"/>
              <a:gd name="csY4" fmla="*/ 0 h 2031325"/>
              <a:gd name="csX5" fmla="*/ 3551751 w 7330068"/>
              <a:gd name="csY5" fmla="*/ 0 h 2031325"/>
              <a:gd name="csX6" fmla="*/ 4291422 w 7330068"/>
              <a:gd name="csY6" fmla="*/ 0 h 2031325"/>
              <a:gd name="csX7" fmla="*/ 4884491 w 7330068"/>
              <a:gd name="csY7" fmla="*/ 0 h 2031325"/>
              <a:gd name="csX8" fmla="*/ 5550861 w 7330068"/>
              <a:gd name="csY8" fmla="*/ 0 h 2031325"/>
              <a:gd name="csX9" fmla="*/ 6070629 w 7330068"/>
              <a:gd name="csY9" fmla="*/ 0 h 2031325"/>
              <a:gd name="csX10" fmla="*/ 6736999 w 7330068"/>
              <a:gd name="csY10" fmla="*/ 0 h 2031325"/>
              <a:gd name="csX11" fmla="*/ 7330068 w 7330068"/>
              <a:gd name="csY11" fmla="*/ 0 h 2031325"/>
              <a:gd name="csX12" fmla="*/ 7330068 w 7330068"/>
              <a:gd name="csY12" fmla="*/ 717735 h 2031325"/>
              <a:gd name="csX13" fmla="*/ 7330068 w 7330068"/>
              <a:gd name="csY13" fmla="*/ 1354217 h 2031325"/>
              <a:gd name="csX14" fmla="*/ 7330068 w 7330068"/>
              <a:gd name="csY14" fmla="*/ 2031325 h 2031325"/>
              <a:gd name="csX15" fmla="*/ 6736999 w 7330068"/>
              <a:gd name="csY15" fmla="*/ 2031325 h 2031325"/>
              <a:gd name="csX16" fmla="*/ 6143930 w 7330068"/>
              <a:gd name="csY16" fmla="*/ 2031325 h 2031325"/>
              <a:gd name="csX17" fmla="*/ 5697462 w 7330068"/>
              <a:gd name="csY17" fmla="*/ 2031325 h 2031325"/>
              <a:gd name="csX18" fmla="*/ 5250994 w 7330068"/>
              <a:gd name="csY18" fmla="*/ 2031325 h 2031325"/>
              <a:gd name="csX19" fmla="*/ 4511324 w 7330068"/>
              <a:gd name="csY19" fmla="*/ 2031325 h 2031325"/>
              <a:gd name="csX20" fmla="*/ 3771653 w 7330068"/>
              <a:gd name="csY20" fmla="*/ 2031325 h 2031325"/>
              <a:gd name="csX21" fmla="*/ 3178584 w 7330068"/>
              <a:gd name="csY21" fmla="*/ 2031325 h 2031325"/>
              <a:gd name="csX22" fmla="*/ 2658816 w 7330068"/>
              <a:gd name="csY22" fmla="*/ 2031325 h 2031325"/>
              <a:gd name="csX23" fmla="*/ 2139047 w 7330068"/>
              <a:gd name="csY23" fmla="*/ 2031325 h 2031325"/>
              <a:gd name="csX24" fmla="*/ 1399377 w 7330068"/>
              <a:gd name="csY24" fmla="*/ 2031325 h 2031325"/>
              <a:gd name="csX25" fmla="*/ 952909 w 7330068"/>
              <a:gd name="csY25" fmla="*/ 2031325 h 2031325"/>
              <a:gd name="csX26" fmla="*/ 0 w 7330068"/>
              <a:gd name="csY26" fmla="*/ 2031325 h 2031325"/>
              <a:gd name="csX27" fmla="*/ 0 w 7330068"/>
              <a:gd name="csY27" fmla="*/ 1333903 h 2031325"/>
              <a:gd name="csX28" fmla="*/ 0 w 7330068"/>
              <a:gd name="csY28" fmla="*/ 717735 h 2031325"/>
              <a:gd name="csX29" fmla="*/ 0 w 7330068"/>
              <a:gd name="csY29" fmla="*/ 0 h 2031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7330068" h="2031325" extrusionOk="0">
                <a:moveTo>
                  <a:pt x="0" y="0"/>
                </a:moveTo>
                <a:cubicBezTo>
                  <a:pt x="354219" y="-9035"/>
                  <a:pt x="433043" y="-35428"/>
                  <a:pt x="739670" y="0"/>
                </a:cubicBezTo>
                <a:cubicBezTo>
                  <a:pt x="1046297" y="35428"/>
                  <a:pt x="1189703" y="-32661"/>
                  <a:pt x="1406040" y="0"/>
                </a:cubicBezTo>
                <a:cubicBezTo>
                  <a:pt x="1622377" y="32661"/>
                  <a:pt x="1945413" y="-20770"/>
                  <a:pt x="2219011" y="0"/>
                </a:cubicBezTo>
                <a:cubicBezTo>
                  <a:pt x="2492609" y="20770"/>
                  <a:pt x="2693804" y="32230"/>
                  <a:pt x="2958682" y="0"/>
                </a:cubicBezTo>
                <a:cubicBezTo>
                  <a:pt x="3223560" y="-32230"/>
                  <a:pt x="3343829" y="-26530"/>
                  <a:pt x="3551751" y="0"/>
                </a:cubicBezTo>
                <a:cubicBezTo>
                  <a:pt x="3759673" y="26530"/>
                  <a:pt x="3929075" y="7309"/>
                  <a:pt x="4291422" y="0"/>
                </a:cubicBezTo>
                <a:cubicBezTo>
                  <a:pt x="4653769" y="-7309"/>
                  <a:pt x="4694016" y="-7308"/>
                  <a:pt x="4884491" y="0"/>
                </a:cubicBezTo>
                <a:cubicBezTo>
                  <a:pt x="5074966" y="7308"/>
                  <a:pt x="5271830" y="-16387"/>
                  <a:pt x="5550861" y="0"/>
                </a:cubicBezTo>
                <a:cubicBezTo>
                  <a:pt x="5829892" y="16387"/>
                  <a:pt x="5905452" y="-2950"/>
                  <a:pt x="6070629" y="0"/>
                </a:cubicBezTo>
                <a:cubicBezTo>
                  <a:pt x="6235806" y="2950"/>
                  <a:pt x="6453276" y="-32028"/>
                  <a:pt x="6736999" y="0"/>
                </a:cubicBezTo>
                <a:cubicBezTo>
                  <a:pt x="7020722" y="32028"/>
                  <a:pt x="7084568" y="-18489"/>
                  <a:pt x="7330068" y="0"/>
                </a:cubicBezTo>
                <a:cubicBezTo>
                  <a:pt x="7348225" y="176574"/>
                  <a:pt x="7358451" y="566850"/>
                  <a:pt x="7330068" y="717735"/>
                </a:cubicBezTo>
                <a:cubicBezTo>
                  <a:pt x="7301685" y="868620"/>
                  <a:pt x="7359128" y="1192066"/>
                  <a:pt x="7330068" y="1354217"/>
                </a:cubicBezTo>
                <a:cubicBezTo>
                  <a:pt x="7301008" y="1516368"/>
                  <a:pt x="7333166" y="1814621"/>
                  <a:pt x="7330068" y="2031325"/>
                </a:cubicBezTo>
                <a:cubicBezTo>
                  <a:pt x="7038528" y="2024993"/>
                  <a:pt x="6998078" y="2021454"/>
                  <a:pt x="6736999" y="2031325"/>
                </a:cubicBezTo>
                <a:cubicBezTo>
                  <a:pt x="6475920" y="2041196"/>
                  <a:pt x="6326636" y="2041291"/>
                  <a:pt x="6143930" y="2031325"/>
                </a:cubicBezTo>
                <a:cubicBezTo>
                  <a:pt x="5961224" y="2021359"/>
                  <a:pt x="5792981" y="2018791"/>
                  <a:pt x="5697462" y="2031325"/>
                </a:cubicBezTo>
                <a:cubicBezTo>
                  <a:pt x="5601943" y="2043859"/>
                  <a:pt x="5442293" y="2009621"/>
                  <a:pt x="5250994" y="2031325"/>
                </a:cubicBezTo>
                <a:cubicBezTo>
                  <a:pt x="5059695" y="2053029"/>
                  <a:pt x="4758147" y="2029939"/>
                  <a:pt x="4511324" y="2031325"/>
                </a:cubicBezTo>
                <a:cubicBezTo>
                  <a:pt x="4264501" y="2032712"/>
                  <a:pt x="3949866" y="2005871"/>
                  <a:pt x="3771653" y="2031325"/>
                </a:cubicBezTo>
                <a:cubicBezTo>
                  <a:pt x="3593440" y="2056779"/>
                  <a:pt x="3395813" y="2045350"/>
                  <a:pt x="3178584" y="2031325"/>
                </a:cubicBezTo>
                <a:cubicBezTo>
                  <a:pt x="2961355" y="2017300"/>
                  <a:pt x="2895538" y="2052760"/>
                  <a:pt x="2658816" y="2031325"/>
                </a:cubicBezTo>
                <a:cubicBezTo>
                  <a:pt x="2422094" y="2009890"/>
                  <a:pt x="2246972" y="2035170"/>
                  <a:pt x="2139047" y="2031325"/>
                </a:cubicBezTo>
                <a:cubicBezTo>
                  <a:pt x="2031122" y="2027480"/>
                  <a:pt x="1708597" y="2061401"/>
                  <a:pt x="1399377" y="2031325"/>
                </a:cubicBezTo>
                <a:cubicBezTo>
                  <a:pt x="1090157" y="2001250"/>
                  <a:pt x="1112219" y="2017596"/>
                  <a:pt x="952909" y="2031325"/>
                </a:cubicBezTo>
                <a:cubicBezTo>
                  <a:pt x="793599" y="2045054"/>
                  <a:pt x="272175" y="2077767"/>
                  <a:pt x="0" y="2031325"/>
                </a:cubicBezTo>
                <a:cubicBezTo>
                  <a:pt x="-14784" y="1770620"/>
                  <a:pt x="-11027" y="1609003"/>
                  <a:pt x="0" y="1333903"/>
                </a:cubicBezTo>
                <a:cubicBezTo>
                  <a:pt x="11027" y="1058803"/>
                  <a:pt x="-23225" y="1007953"/>
                  <a:pt x="0" y="717735"/>
                </a:cubicBezTo>
                <a:cubicBezTo>
                  <a:pt x="23225" y="427517"/>
                  <a:pt x="30415" y="329257"/>
                  <a:pt x="0" y="0"/>
                </a:cubicBezTo>
                <a:close/>
              </a:path>
            </a:pathLst>
          </a:custGeom>
          <a:noFill/>
          <a:ln>
            <a:solidFill>
              <a:schemeClr val="tx1"/>
            </a:solidFill>
            <a:extLst>
              <a:ext uri="{C807C97D-BFC1-408E-A445-0C87EB9F89A2}">
                <ask:lineSketchStyleProps xmlns:ask="http://schemas.microsoft.com/office/drawing/2018/sketchyshapes" sd="3098272673">
                  <a:prstGeom prst="rect">
                    <a:avLst/>
                  </a:prstGeom>
                  <ask:type>
                    <ask:lineSketchFreehand/>
                  </ask:type>
                </ask:lineSketchStyleProps>
              </a:ext>
            </a:extLst>
          </a:ln>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This project presents an improved deep learning framework for dental health analysis using dental X-ray images. The main objective is to classify teeth into healthy and non-healthy categories, where non-healthy includes cavities, fractures, and impacted teeth. Existing models such as CNN and other deep learning approaches provide good performance; however, they have limitations like overfitting, high computational cost, and lower generalization ability. In this study, models including CNN, ResNet50, ResNet101, DenseNet121, and VGG16 are used for comparison. To enhance performance, a hybrid model combining ResNet50 for feature extraction and SVM for classification is proposed. The proposed ResNet50+SVM model achieves higher accuracy and better overall performance compared to the other models.</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64118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68F63-D258-AA95-E384-41FDD609D0E8}"/>
              </a:ext>
            </a:extLst>
          </p:cNvPr>
          <p:cNvSpPr>
            <a:spLocks noGrp="1"/>
          </p:cNvSpPr>
          <p:nvPr>
            <p:ph type="title"/>
          </p:nvPr>
        </p:nvSpPr>
        <p:spPr>
          <a:xfrm>
            <a:off x="3367215" y="798047"/>
            <a:ext cx="2163790" cy="607006"/>
          </a:xfrm>
        </p:spPr>
        <p:txBody>
          <a:bodyPr/>
          <a:lstStyle/>
          <a:p>
            <a:r>
              <a:rPr lang="en-US" sz="2800" dirty="0">
                <a:solidFill>
                  <a:schemeClr val="bg1">
                    <a:lumMod val="50000"/>
                  </a:schemeClr>
                </a:solidFill>
                <a:latin typeface="Times New Roman" panose="02020603050405020304" pitchFamily="18" charset="0"/>
                <a:cs typeface="Times New Roman" panose="02020603050405020304" pitchFamily="18" charset="0"/>
              </a:rPr>
              <a:t>Introduction</a:t>
            </a:r>
            <a:endParaRPr lang="en-IN" sz="28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8495C78-678E-A024-274D-D85FAE6DDAA6}"/>
              </a:ext>
            </a:extLst>
          </p:cNvPr>
          <p:cNvSpPr txBox="1"/>
          <p:nvPr/>
        </p:nvSpPr>
        <p:spPr>
          <a:xfrm>
            <a:off x="297366" y="1598341"/>
            <a:ext cx="8608741" cy="2962158"/>
          </a:xfrm>
          <a:custGeom>
            <a:avLst/>
            <a:gdLst>
              <a:gd name="csX0" fmla="*/ 0 w 8608741"/>
              <a:gd name="csY0" fmla="*/ 0 h 2962158"/>
              <a:gd name="csX1" fmla="*/ 834386 w 8608741"/>
              <a:gd name="csY1" fmla="*/ 0 h 2962158"/>
              <a:gd name="csX2" fmla="*/ 1582684 w 8608741"/>
              <a:gd name="csY2" fmla="*/ 0 h 2962158"/>
              <a:gd name="csX3" fmla="*/ 1986633 w 8608741"/>
              <a:gd name="csY3" fmla="*/ 0 h 2962158"/>
              <a:gd name="csX4" fmla="*/ 2476669 w 8608741"/>
              <a:gd name="csY4" fmla="*/ 0 h 2962158"/>
              <a:gd name="csX5" fmla="*/ 3138879 w 8608741"/>
              <a:gd name="csY5" fmla="*/ 0 h 2962158"/>
              <a:gd name="csX6" fmla="*/ 3801090 w 8608741"/>
              <a:gd name="csY6" fmla="*/ 0 h 2962158"/>
              <a:gd name="csX7" fmla="*/ 4549389 w 8608741"/>
              <a:gd name="csY7" fmla="*/ 0 h 2962158"/>
              <a:gd name="csX8" fmla="*/ 5039425 w 8608741"/>
              <a:gd name="csY8" fmla="*/ 0 h 2962158"/>
              <a:gd name="csX9" fmla="*/ 5787723 w 8608741"/>
              <a:gd name="csY9" fmla="*/ 0 h 2962158"/>
              <a:gd name="csX10" fmla="*/ 6363846 w 8608741"/>
              <a:gd name="csY10" fmla="*/ 0 h 2962158"/>
              <a:gd name="csX11" fmla="*/ 6767795 w 8608741"/>
              <a:gd name="csY11" fmla="*/ 0 h 2962158"/>
              <a:gd name="csX12" fmla="*/ 7343918 w 8608741"/>
              <a:gd name="csY12" fmla="*/ 0 h 2962158"/>
              <a:gd name="csX13" fmla="*/ 8608741 w 8608741"/>
              <a:gd name="csY13" fmla="*/ 0 h 2962158"/>
              <a:gd name="csX14" fmla="*/ 8608741 w 8608741"/>
              <a:gd name="csY14" fmla="*/ 651675 h 2962158"/>
              <a:gd name="csX15" fmla="*/ 8608741 w 8608741"/>
              <a:gd name="csY15" fmla="*/ 1214485 h 2962158"/>
              <a:gd name="csX16" fmla="*/ 8608741 w 8608741"/>
              <a:gd name="csY16" fmla="*/ 1718052 h 2962158"/>
              <a:gd name="csX17" fmla="*/ 8608741 w 8608741"/>
              <a:gd name="csY17" fmla="*/ 2310483 h 2962158"/>
              <a:gd name="csX18" fmla="*/ 8608741 w 8608741"/>
              <a:gd name="csY18" fmla="*/ 2962158 h 2962158"/>
              <a:gd name="csX19" fmla="*/ 8032618 w 8608741"/>
              <a:gd name="csY19" fmla="*/ 2962158 h 2962158"/>
              <a:gd name="csX20" fmla="*/ 7542582 w 8608741"/>
              <a:gd name="csY20" fmla="*/ 2962158 h 2962158"/>
              <a:gd name="csX21" fmla="*/ 6880371 w 8608741"/>
              <a:gd name="csY21" fmla="*/ 2962158 h 2962158"/>
              <a:gd name="csX22" fmla="*/ 6390335 w 8608741"/>
              <a:gd name="csY22" fmla="*/ 2962158 h 2962158"/>
              <a:gd name="csX23" fmla="*/ 5986386 w 8608741"/>
              <a:gd name="csY23" fmla="*/ 2962158 h 2962158"/>
              <a:gd name="csX24" fmla="*/ 5410263 w 8608741"/>
              <a:gd name="csY24" fmla="*/ 2962158 h 2962158"/>
              <a:gd name="csX25" fmla="*/ 4575877 w 8608741"/>
              <a:gd name="csY25" fmla="*/ 2962158 h 2962158"/>
              <a:gd name="csX26" fmla="*/ 3913666 w 8608741"/>
              <a:gd name="csY26" fmla="*/ 2962158 h 2962158"/>
              <a:gd name="csX27" fmla="*/ 3165368 w 8608741"/>
              <a:gd name="csY27" fmla="*/ 2962158 h 2962158"/>
              <a:gd name="csX28" fmla="*/ 2761419 w 8608741"/>
              <a:gd name="csY28" fmla="*/ 2962158 h 2962158"/>
              <a:gd name="csX29" fmla="*/ 2099208 w 8608741"/>
              <a:gd name="csY29" fmla="*/ 2962158 h 2962158"/>
              <a:gd name="csX30" fmla="*/ 1523085 w 8608741"/>
              <a:gd name="csY30" fmla="*/ 2962158 h 2962158"/>
              <a:gd name="csX31" fmla="*/ 946962 w 8608741"/>
              <a:gd name="csY31" fmla="*/ 2962158 h 2962158"/>
              <a:gd name="csX32" fmla="*/ 0 w 8608741"/>
              <a:gd name="csY32" fmla="*/ 2962158 h 2962158"/>
              <a:gd name="csX33" fmla="*/ 0 w 8608741"/>
              <a:gd name="csY33" fmla="*/ 2369726 h 2962158"/>
              <a:gd name="csX34" fmla="*/ 0 w 8608741"/>
              <a:gd name="csY34" fmla="*/ 1718052 h 2962158"/>
              <a:gd name="csX35" fmla="*/ 0 w 8608741"/>
              <a:gd name="csY35" fmla="*/ 1125620 h 2962158"/>
              <a:gd name="csX36" fmla="*/ 0 w 8608741"/>
              <a:gd name="csY36" fmla="*/ 562810 h 2962158"/>
              <a:gd name="csX37" fmla="*/ 0 w 8608741"/>
              <a:gd name="csY37" fmla="*/ 0 h 29621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8608741" h="2962158" extrusionOk="0">
                <a:moveTo>
                  <a:pt x="0" y="0"/>
                </a:moveTo>
                <a:cubicBezTo>
                  <a:pt x="235319" y="25108"/>
                  <a:pt x="465385" y="-915"/>
                  <a:pt x="834386" y="0"/>
                </a:cubicBezTo>
                <a:cubicBezTo>
                  <a:pt x="1203387" y="915"/>
                  <a:pt x="1260531" y="-24410"/>
                  <a:pt x="1582684" y="0"/>
                </a:cubicBezTo>
                <a:cubicBezTo>
                  <a:pt x="1904837" y="24410"/>
                  <a:pt x="1807735" y="10688"/>
                  <a:pt x="1986633" y="0"/>
                </a:cubicBezTo>
                <a:cubicBezTo>
                  <a:pt x="2165531" y="-10688"/>
                  <a:pt x="2271998" y="-16204"/>
                  <a:pt x="2476669" y="0"/>
                </a:cubicBezTo>
                <a:cubicBezTo>
                  <a:pt x="2681340" y="16204"/>
                  <a:pt x="2933384" y="-32479"/>
                  <a:pt x="3138879" y="0"/>
                </a:cubicBezTo>
                <a:cubicBezTo>
                  <a:pt x="3344374" y="32479"/>
                  <a:pt x="3549537" y="-3983"/>
                  <a:pt x="3801090" y="0"/>
                </a:cubicBezTo>
                <a:cubicBezTo>
                  <a:pt x="4052643" y="3983"/>
                  <a:pt x="4333994" y="11467"/>
                  <a:pt x="4549389" y="0"/>
                </a:cubicBezTo>
                <a:cubicBezTo>
                  <a:pt x="4764784" y="-11467"/>
                  <a:pt x="4880893" y="-12373"/>
                  <a:pt x="5039425" y="0"/>
                </a:cubicBezTo>
                <a:cubicBezTo>
                  <a:pt x="5197957" y="12373"/>
                  <a:pt x="5595970" y="-26371"/>
                  <a:pt x="5787723" y="0"/>
                </a:cubicBezTo>
                <a:cubicBezTo>
                  <a:pt x="5979476" y="26371"/>
                  <a:pt x="6198885" y="6700"/>
                  <a:pt x="6363846" y="0"/>
                </a:cubicBezTo>
                <a:cubicBezTo>
                  <a:pt x="6528807" y="-6700"/>
                  <a:pt x="6630485" y="19578"/>
                  <a:pt x="6767795" y="0"/>
                </a:cubicBezTo>
                <a:cubicBezTo>
                  <a:pt x="6905105" y="-19578"/>
                  <a:pt x="7167459" y="20803"/>
                  <a:pt x="7343918" y="0"/>
                </a:cubicBezTo>
                <a:cubicBezTo>
                  <a:pt x="7520377" y="-20803"/>
                  <a:pt x="8022391" y="56716"/>
                  <a:pt x="8608741" y="0"/>
                </a:cubicBezTo>
                <a:cubicBezTo>
                  <a:pt x="8633253" y="323165"/>
                  <a:pt x="8598745" y="351220"/>
                  <a:pt x="8608741" y="651675"/>
                </a:cubicBezTo>
                <a:cubicBezTo>
                  <a:pt x="8618737" y="952131"/>
                  <a:pt x="8616596" y="1067458"/>
                  <a:pt x="8608741" y="1214485"/>
                </a:cubicBezTo>
                <a:cubicBezTo>
                  <a:pt x="8600887" y="1361512"/>
                  <a:pt x="8584571" y="1586861"/>
                  <a:pt x="8608741" y="1718052"/>
                </a:cubicBezTo>
                <a:cubicBezTo>
                  <a:pt x="8632911" y="1849243"/>
                  <a:pt x="8631079" y="2170280"/>
                  <a:pt x="8608741" y="2310483"/>
                </a:cubicBezTo>
                <a:cubicBezTo>
                  <a:pt x="8586403" y="2450686"/>
                  <a:pt x="8611995" y="2683073"/>
                  <a:pt x="8608741" y="2962158"/>
                </a:cubicBezTo>
                <a:cubicBezTo>
                  <a:pt x="8486680" y="2972934"/>
                  <a:pt x="8255333" y="2973115"/>
                  <a:pt x="8032618" y="2962158"/>
                </a:cubicBezTo>
                <a:cubicBezTo>
                  <a:pt x="7809903" y="2951201"/>
                  <a:pt x="7691168" y="2967755"/>
                  <a:pt x="7542582" y="2962158"/>
                </a:cubicBezTo>
                <a:cubicBezTo>
                  <a:pt x="7393996" y="2956561"/>
                  <a:pt x="7174348" y="2989905"/>
                  <a:pt x="6880371" y="2962158"/>
                </a:cubicBezTo>
                <a:cubicBezTo>
                  <a:pt x="6586394" y="2934411"/>
                  <a:pt x="6571525" y="2957214"/>
                  <a:pt x="6390335" y="2962158"/>
                </a:cubicBezTo>
                <a:cubicBezTo>
                  <a:pt x="6209145" y="2967102"/>
                  <a:pt x="6165334" y="2949418"/>
                  <a:pt x="5986386" y="2962158"/>
                </a:cubicBezTo>
                <a:cubicBezTo>
                  <a:pt x="5807438" y="2974898"/>
                  <a:pt x="5555028" y="2975095"/>
                  <a:pt x="5410263" y="2962158"/>
                </a:cubicBezTo>
                <a:cubicBezTo>
                  <a:pt x="5265498" y="2949221"/>
                  <a:pt x="4938135" y="2947773"/>
                  <a:pt x="4575877" y="2962158"/>
                </a:cubicBezTo>
                <a:cubicBezTo>
                  <a:pt x="4213619" y="2976543"/>
                  <a:pt x="4080867" y="2978287"/>
                  <a:pt x="3913666" y="2962158"/>
                </a:cubicBezTo>
                <a:cubicBezTo>
                  <a:pt x="3746465" y="2946029"/>
                  <a:pt x="3462602" y="2982414"/>
                  <a:pt x="3165368" y="2962158"/>
                </a:cubicBezTo>
                <a:cubicBezTo>
                  <a:pt x="2868134" y="2941902"/>
                  <a:pt x="2870287" y="2947952"/>
                  <a:pt x="2761419" y="2962158"/>
                </a:cubicBezTo>
                <a:cubicBezTo>
                  <a:pt x="2652551" y="2976364"/>
                  <a:pt x="2361330" y="2978885"/>
                  <a:pt x="2099208" y="2962158"/>
                </a:cubicBezTo>
                <a:cubicBezTo>
                  <a:pt x="1837086" y="2945431"/>
                  <a:pt x="1771916" y="2946878"/>
                  <a:pt x="1523085" y="2962158"/>
                </a:cubicBezTo>
                <a:cubicBezTo>
                  <a:pt x="1274254" y="2977438"/>
                  <a:pt x="1094311" y="2978565"/>
                  <a:pt x="946962" y="2962158"/>
                </a:cubicBezTo>
                <a:cubicBezTo>
                  <a:pt x="799613" y="2945751"/>
                  <a:pt x="363329" y="2990836"/>
                  <a:pt x="0" y="2962158"/>
                </a:cubicBezTo>
                <a:cubicBezTo>
                  <a:pt x="-16909" y="2697083"/>
                  <a:pt x="-19994" y="2519372"/>
                  <a:pt x="0" y="2369726"/>
                </a:cubicBezTo>
                <a:cubicBezTo>
                  <a:pt x="19994" y="2220080"/>
                  <a:pt x="-25287" y="1967372"/>
                  <a:pt x="0" y="1718052"/>
                </a:cubicBezTo>
                <a:cubicBezTo>
                  <a:pt x="25287" y="1468732"/>
                  <a:pt x="-8461" y="1406186"/>
                  <a:pt x="0" y="1125620"/>
                </a:cubicBezTo>
                <a:cubicBezTo>
                  <a:pt x="8461" y="845054"/>
                  <a:pt x="1549" y="796803"/>
                  <a:pt x="0" y="562810"/>
                </a:cubicBezTo>
                <a:cubicBezTo>
                  <a:pt x="-1549" y="328817"/>
                  <a:pt x="3383" y="165926"/>
                  <a:pt x="0" y="0"/>
                </a:cubicBezTo>
                <a:close/>
              </a:path>
            </a:pathLst>
          </a:custGeom>
          <a:noFill/>
          <a:ln>
            <a:solidFill>
              <a:schemeClr val="tx1"/>
            </a:solidFill>
            <a:extLst>
              <a:ext uri="{C807C97D-BFC1-408E-A445-0C87EB9F89A2}">
                <ask:lineSketchStyleProps xmlns:ask="http://schemas.microsoft.com/office/drawing/2018/sketchyshapes" sd="714250549">
                  <a:prstGeom prst="rect">
                    <a:avLst/>
                  </a:prstGeom>
                  <ask:type>
                    <ask:lineSketchFreehand/>
                  </ask:type>
                </ask:lineSketchStyleProps>
              </a:ext>
            </a:extLst>
          </a:ln>
        </p:spPr>
        <p:txBody>
          <a:bodyPr wrap="square" rtlCol="0">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Oral health is important for overall health and quality of life.</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Dental problems like cavities, fractured teeth, and impacted teeth are common and can cause serious issues if not detected early.</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Dentists use dental X-ray images to identify these problems, but manual analysis can be time-consuming and may lead to errors.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our project, we classify dental X-ray images into two categories: Healthy and Non-Healthy</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a tooth has cavities, fractures, or is impacted, it is classified as Non-Healthy; otherwise, it is Healthy.</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compared different deep learning models such as CNN, ResNet50, ResNet101, DenseNet121, and VGG16.</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Our proposed hybrid model, ResNet50 + SVM, achieved better performance compared to the other models.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6141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EB42B-6B14-837A-7EE4-A486B312F608}"/>
              </a:ext>
            </a:extLst>
          </p:cNvPr>
          <p:cNvSpPr>
            <a:spLocks noGrp="1"/>
          </p:cNvSpPr>
          <p:nvPr>
            <p:ph type="title"/>
          </p:nvPr>
        </p:nvSpPr>
        <p:spPr>
          <a:xfrm>
            <a:off x="252308" y="545287"/>
            <a:ext cx="2736219" cy="748254"/>
          </a:xfrm>
        </p:spPr>
        <p:txBody>
          <a:bodyPr/>
          <a:lstStyle/>
          <a:p>
            <a:r>
              <a:rPr lang="en-IN" sz="2400" dirty="0">
                <a:solidFill>
                  <a:schemeClr val="bg1">
                    <a:lumMod val="50000"/>
                  </a:schemeClr>
                </a:solidFill>
                <a:latin typeface="Times New Roman" panose="02020603050405020304" pitchFamily="18" charset="0"/>
                <a:cs typeface="Times New Roman" panose="02020603050405020304" pitchFamily="18" charset="0"/>
              </a:rPr>
              <a:t>Literature Review</a:t>
            </a:r>
          </a:p>
        </p:txBody>
      </p:sp>
      <p:pic>
        <p:nvPicPr>
          <p:cNvPr id="2050" name="Picture 2">
            <a:extLst>
              <a:ext uri="{FF2B5EF4-FFF2-40B4-BE49-F238E27FC236}">
                <a16:creationId xmlns:a16="http://schemas.microsoft.com/office/drawing/2014/main" id="{A704B1EC-09B6-A54A-827E-226763CB40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1562" y="996176"/>
            <a:ext cx="5426926" cy="3483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0205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37F8C-E8D4-2768-D7F0-184691F24CF7}"/>
              </a:ext>
            </a:extLst>
          </p:cNvPr>
          <p:cNvSpPr>
            <a:spLocks noGrp="1"/>
          </p:cNvSpPr>
          <p:nvPr>
            <p:ph type="title"/>
          </p:nvPr>
        </p:nvSpPr>
        <p:spPr>
          <a:xfrm>
            <a:off x="579410" y="448643"/>
            <a:ext cx="2639575" cy="852333"/>
          </a:xfrm>
        </p:spPr>
        <p:txBody>
          <a:bodyPr/>
          <a:lstStyle/>
          <a:p>
            <a:r>
              <a:rPr lang="en-US" sz="2400" dirty="0">
                <a:latin typeface="Times New Roman" panose="02020603050405020304" pitchFamily="18" charset="0"/>
                <a:cs typeface="Times New Roman" panose="02020603050405020304" pitchFamily="18" charset="0"/>
              </a:rPr>
              <a:t>Literature Review</a:t>
            </a:r>
            <a:endParaRPr lang="en-IN" sz="2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DFC179E2-D79F-02C0-2EC3-5438B4CE53C8}"/>
              </a:ext>
            </a:extLst>
          </p:cNvPr>
          <p:cNvGraphicFramePr>
            <a:graphicFrameLocks noGrp="1"/>
          </p:cNvGraphicFramePr>
          <p:nvPr>
            <p:extLst>
              <p:ext uri="{D42A27DB-BD31-4B8C-83A1-F6EECF244321}">
                <p14:modId xmlns:p14="http://schemas.microsoft.com/office/powerpoint/2010/main" val="2372745430"/>
              </p:ext>
            </p:extLst>
          </p:nvPr>
        </p:nvGraphicFramePr>
        <p:xfrm>
          <a:off x="762290" y="1236980"/>
          <a:ext cx="7430735" cy="3169920"/>
        </p:xfrm>
        <a:graphic>
          <a:graphicData uri="http://schemas.openxmlformats.org/drawingml/2006/table">
            <a:tbl>
              <a:tblPr firstRow="1" bandRow="1">
                <a:tableStyleId>{284E427A-3D55-4303-BF80-6455036E1DE7}</a:tableStyleId>
              </a:tblPr>
              <a:tblGrid>
                <a:gridCol w="626160">
                  <a:extLst>
                    <a:ext uri="{9D8B030D-6E8A-4147-A177-3AD203B41FA5}">
                      <a16:colId xmlns:a16="http://schemas.microsoft.com/office/drawing/2014/main" val="94829711"/>
                    </a:ext>
                  </a:extLst>
                </a:gridCol>
                <a:gridCol w="1496905">
                  <a:extLst>
                    <a:ext uri="{9D8B030D-6E8A-4147-A177-3AD203B41FA5}">
                      <a16:colId xmlns:a16="http://schemas.microsoft.com/office/drawing/2014/main" val="1252079282"/>
                    </a:ext>
                  </a:extLst>
                </a:gridCol>
                <a:gridCol w="1061534">
                  <a:extLst>
                    <a:ext uri="{9D8B030D-6E8A-4147-A177-3AD203B41FA5}">
                      <a16:colId xmlns:a16="http://schemas.microsoft.com/office/drawing/2014/main" val="1087146624"/>
                    </a:ext>
                  </a:extLst>
                </a:gridCol>
                <a:gridCol w="1061534">
                  <a:extLst>
                    <a:ext uri="{9D8B030D-6E8A-4147-A177-3AD203B41FA5}">
                      <a16:colId xmlns:a16="http://schemas.microsoft.com/office/drawing/2014/main" val="1566569969"/>
                    </a:ext>
                  </a:extLst>
                </a:gridCol>
                <a:gridCol w="868121">
                  <a:extLst>
                    <a:ext uri="{9D8B030D-6E8A-4147-A177-3AD203B41FA5}">
                      <a16:colId xmlns:a16="http://schemas.microsoft.com/office/drawing/2014/main" val="1671663609"/>
                    </a:ext>
                  </a:extLst>
                </a:gridCol>
                <a:gridCol w="1254947">
                  <a:extLst>
                    <a:ext uri="{9D8B030D-6E8A-4147-A177-3AD203B41FA5}">
                      <a16:colId xmlns:a16="http://schemas.microsoft.com/office/drawing/2014/main" val="3411789612"/>
                    </a:ext>
                  </a:extLst>
                </a:gridCol>
                <a:gridCol w="1061534">
                  <a:extLst>
                    <a:ext uri="{9D8B030D-6E8A-4147-A177-3AD203B41FA5}">
                      <a16:colId xmlns:a16="http://schemas.microsoft.com/office/drawing/2014/main" val="287033464"/>
                    </a:ext>
                  </a:extLst>
                </a:gridCol>
              </a:tblGrid>
              <a:tr h="370840">
                <a:tc>
                  <a:txBody>
                    <a:bodyPr/>
                    <a:lstStyle/>
                    <a:p>
                      <a:r>
                        <a:rPr lang="en-US" sz="1000" dirty="0"/>
                        <a:t>Year</a:t>
                      </a:r>
                      <a:endParaRPr lang="en-IN" sz="1000" dirty="0"/>
                    </a:p>
                  </a:txBody>
                  <a:tcPr/>
                </a:tc>
                <a:tc>
                  <a:txBody>
                    <a:bodyPr/>
                    <a:lstStyle/>
                    <a:p>
                      <a:r>
                        <a:rPr lang="en-US" sz="1000" dirty="0"/>
                        <a:t>Title</a:t>
                      </a:r>
                      <a:endParaRPr lang="en-IN" sz="1000" dirty="0"/>
                    </a:p>
                  </a:txBody>
                  <a:tcPr/>
                </a:tc>
                <a:tc>
                  <a:txBody>
                    <a:bodyPr/>
                    <a:lstStyle/>
                    <a:p>
                      <a:r>
                        <a:rPr lang="en-US" sz="1000" dirty="0"/>
                        <a:t>dataset</a:t>
                      </a:r>
                      <a:endParaRPr lang="en-IN" sz="1000" dirty="0"/>
                    </a:p>
                  </a:txBody>
                  <a:tcPr/>
                </a:tc>
                <a:tc>
                  <a:txBody>
                    <a:bodyPr/>
                    <a:lstStyle/>
                    <a:p>
                      <a:r>
                        <a:rPr lang="en-US" sz="1000" dirty="0"/>
                        <a:t>Compared models</a:t>
                      </a:r>
                      <a:endParaRPr lang="en-IN" sz="1000" dirty="0"/>
                    </a:p>
                  </a:txBody>
                  <a:tcPr/>
                </a:tc>
                <a:tc>
                  <a:txBody>
                    <a:bodyPr/>
                    <a:lstStyle/>
                    <a:p>
                      <a:r>
                        <a:rPr lang="en-US" sz="1000" dirty="0"/>
                        <a:t>Proposed Model</a:t>
                      </a:r>
                      <a:endParaRPr lang="en-IN" sz="1000" dirty="0"/>
                    </a:p>
                  </a:txBody>
                  <a:tcPr/>
                </a:tc>
                <a:tc>
                  <a:txBody>
                    <a:bodyPr/>
                    <a:lstStyle/>
                    <a:p>
                      <a:r>
                        <a:rPr lang="en-US" sz="1000" dirty="0"/>
                        <a:t>Performance metrics</a:t>
                      </a:r>
                      <a:endParaRPr lang="en-IN" sz="1000" dirty="0"/>
                    </a:p>
                  </a:txBody>
                  <a:tcPr/>
                </a:tc>
                <a:tc>
                  <a:txBody>
                    <a:bodyPr/>
                    <a:lstStyle/>
                    <a:p>
                      <a:r>
                        <a:rPr lang="en-US" sz="1000" dirty="0"/>
                        <a:t>Authors</a:t>
                      </a:r>
                      <a:endParaRPr lang="en-IN" sz="1000" dirty="0"/>
                    </a:p>
                  </a:txBody>
                  <a:tcPr/>
                </a:tc>
                <a:extLst>
                  <a:ext uri="{0D108BD9-81ED-4DB2-BD59-A6C34878D82A}">
                    <a16:rowId xmlns:a16="http://schemas.microsoft.com/office/drawing/2014/main" val="2590898637"/>
                  </a:ext>
                </a:extLst>
              </a:tr>
              <a:tr h="370840">
                <a:tc>
                  <a:txBody>
                    <a:bodyPr/>
                    <a:lstStyle/>
                    <a:p>
                      <a:r>
                        <a:rPr lang="en-US" sz="1000" dirty="0"/>
                        <a:t>2020</a:t>
                      </a:r>
                      <a:endParaRPr lang="en-IN" sz="1000" dirty="0"/>
                    </a:p>
                  </a:txBody>
                  <a:tcPr/>
                </a:tc>
                <a:tc>
                  <a:txBody>
                    <a:bodyPr/>
                    <a:lstStyle/>
                    <a:p>
                      <a:r>
                        <a:rPr lang="en-US" sz="1000" dirty="0"/>
                        <a:t>A Performance Comparison between automated Deep Learning and Dental Professionals in Classification of Dental Implant Systems From Dental Imaging</a:t>
                      </a:r>
                      <a:endParaRPr lang="en-IN" sz="1000" dirty="0"/>
                    </a:p>
                  </a:txBody>
                  <a:tcPr/>
                </a:tc>
                <a:tc>
                  <a:txBody>
                    <a:bodyPr/>
                    <a:lstStyle/>
                    <a:p>
                      <a:r>
                        <a:rPr lang="en-US" sz="1000" dirty="0"/>
                        <a:t>11,980 panoramic and periapical radiographic images</a:t>
                      </a:r>
                    </a:p>
                    <a:p>
                      <a:endParaRPr lang="en-IN" sz="1000" dirty="0"/>
                    </a:p>
                  </a:txBody>
                  <a:tcPr/>
                </a:tc>
                <a:tc>
                  <a:txBody>
                    <a:bodyPr/>
                    <a:lstStyle/>
                    <a:p>
                      <a:r>
                        <a:rPr lang="en-IN" sz="1000" dirty="0"/>
                        <a:t>DCNN</a:t>
                      </a:r>
                    </a:p>
                  </a:txBody>
                  <a:tcPr/>
                </a:tc>
                <a:tc>
                  <a:txBody>
                    <a:bodyPr/>
                    <a:lstStyle/>
                    <a:p>
                      <a:r>
                        <a:rPr lang="en-IN" sz="1000" dirty="0"/>
                        <a:t>DCNN</a:t>
                      </a:r>
                    </a:p>
                  </a:txBody>
                  <a:tcPr/>
                </a:tc>
                <a:tc>
                  <a:txBody>
                    <a:bodyPr/>
                    <a:lstStyle/>
                    <a:p>
                      <a:r>
                        <a:rPr lang="en-IN" sz="1000" dirty="0"/>
                        <a:t>Specificity=85.3</a:t>
                      </a:r>
                    </a:p>
                    <a:p>
                      <a:r>
                        <a:rPr lang="en-IN" sz="1000" dirty="0"/>
                        <a:t>Recall=95.5</a:t>
                      </a:r>
                    </a:p>
                  </a:txBody>
                  <a:tcPr/>
                </a:tc>
                <a:tc>
                  <a:txBody>
                    <a:bodyPr/>
                    <a:lstStyle/>
                    <a:p>
                      <a:r>
                        <a:rPr lang="en-IN" sz="1000" dirty="0"/>
                        <a:t>Jae-Hong Lee et al.</a:t>
                      </a:r>
                    </a:p>
                  </a:txBody>
                  <a:tcPr/>
                </a:tc>
                <a:extLst>
                  <a:ext uri="{0D108BD9-81ED-4DB2-BD59-A6C34878D82A}">
                    <a16:rowId xmlns:a16="http://schemas.microsoft.com/office/drawing/2014/main" val="2764450945"/>
                  </a:ext>
                </a:extLst>
              </a:tr>
              <a:tr h="370840">
                <a:tc>
                  <a:txBody>
                    <a:bodyPr/>
                    <a:lstStyle/>
                    <a:p>
                      <a:r>
                        <a:rPr lang="en-US" sz="1000" dirty="0"/>
                        <a:t>2020</a:t>
                      </a:r>
                      <a:endParaRPr lang="en-IN" sz="1000" dirty="0"/>
                    </a:p>
                  </a:txBody>
                  <a:tcPr/>
                </a:tc>
                <a:tc>
                  <a:txBody>
                    <a:bodyPr/>
                    <a:lstStyle/>
                    <a:p>
                      <a:r>
                        <a:rPr lang="en-IN" sz="1000" dirty="0"/>
                        <a:t>Deep Neural Networks for Dental Implant System Classification</a:t>
                      </a:r>
                    </a:p>
                  </a:txBody>
                  <a:tcPr/>
                </a:tc>
                <a:tc>
                  <a:txBody>
                    <a:bodyPr/>
                    <a:lstStyle/>
                    <a:p>
                      <a:r>
                        <a:rPr lang="en-US" sz="1000" dirty="0"/>
                        <a:t>8859 manually cropped implant images collected from Kagawa Prefectural Central Hospital, Japan</a:t>
                      </a:r>
                    </a:p>
                    <a:p>
                      <a:endParaRPr lang="en-IN" sz="1000" dirty="0"/>
                    </a:p>
                  </a:txBody>
                  <a:tcPr/>
                </a:tc>
                <a:tc>
                  <a:txBody>
                    <a:bodyPr/>
                    <a:lstStyle/>
                    <a:p>
                      <a:r>
                        <a:rPr lang="en-IN" sz="1000" dirty="0"/>
                        <a:t>CNN,VGG16(transfer Learning),VGG16(Fine-Tuned),VGG19(Transfer Leaning),VGG19(Fine-Tuned)</a:t>
                      </a:r>
                    </a:p>
                    <a:p>
                      <a:endParaRPr lang="en-IN" sz="1000" dirty="0"/>
                    </a:p>
                  </a:txBody>
                  <a:tcPr/>
                </a:tc>
                <a:tc>
                  <a:txBody>
                    <a:bodyPr/>
                    <a:lstStyle/>
                    <a:p>
                      <a:r>
                        <a:rPr lang="en-IN" sz="1000" dirty="0"/>
                        <a:t>Fine-Tuned VGG16</a:t>
                      </a:r>
                    </a:p>
                  </a:txBody>
                  <a:tcPr/>
                </a:tc>
                <a:tc>
                  <a:txBody>
                    <a:bodyPr/>
                    <a:lstStyle/>
                    <a:p>
                      <a:r>
                        <a:rPr lang="en-IN" sz="1000" dirty="0"/>
                        <a:t>Accuracy-93</a:t>
                      </a:r>
                    </a:p>
                    <a:p>
                      <a:r>
                        <a:rPr lang="en-IN" sz="1000" dirty="0"/>
                        <a:t>Precision-93</a:t>
                      </a:r>
                    </a:p>
                    <a:p>
                      <a:r>
                        <a:rPr lang="en-IN" sz="1000" dirty="0"/>
                        <a:t>Recall-93</a:t>
                      </a:r>
                    </a:p>
                    <a:p>
                      <a:r>
                        <a:rPr lang="en-IN" sz="1000" dirty="0"/>
                        <a:t>F1-score-93</a:t>
                      </a:r>
                    </a:p>
                    <a:p>
                      <a:endParaRPr lang="en-IN" sz="1000" dirty="0"/>
                    </a:p>
                  </a:txBody>
                  <a:tcPr/>
                </a:tc>
                <a:tc>
                  <a:txBody>
                    <a:bodyPr/>
                    <a:lstStyle/>
                    <a:p>
                      <a:r>
                        <a:rPr lang="en-IN" sz="1000" dirty="0" err="1"/>
                        <a:t>hintaro</a:t>
                      </a:r>
                      <a:r>
                        <a:rPr lang="en-IN" sz="1000" dirty="0"/>
                        <a:t> </a:t>
                      </a:r>
                      <a:r>
                        <a:rPr lang="en-IN" sz="1000" dirty="0" err="1"/>
                        <a:t>Sukegawa</a:t>
                      </a:r>
                      <a:r>
                        <a:rPr lang="en-IN" sz="1000" dirty="0"/>
                        <a:t> et al.</a:t>
                      </a:r>
                    </a:p>
                    <a:p>
                      <a:endParaRPr lang="en-IN" sz="1000" dirty="0"/>
                    </a:p>
                  </a:txBody>
                  <a:tcPr/>
                </a:tc>
                <a:extLst>
                  <a:ext uri="{0D108BD9-81ED-4DB2-BD59-A6C34878D82A}">
                    <a16:rowId xmlns:a16="http://schemas.microsoft.com/office/drawing/2014/main" val="3828535857"/>
                  </a:ext>
                </a:extLst>
              </a:tr>
            </a:tbl>
          </a:graphicData>
        </a:graphic>
      </p:graphicFrame>
    </p:spTree>
    <p:extLst>
      <p:ext uri="{BB962C8B-B14F-4D97-AF65-F5344CB8AC3E}">
        <p14:creationId xmlns:p14="http://schemas.microsoft.com/office/powerpoint/2010/main" val="4073884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4CDE66B-F95A-A259-0436-9518EE7BF463}"/>
              </a:ext>
            </a:extLst>
          </p:cNvPr>
          <p:cNvGraphicFramePr>
            <a:graphicFrameLocks noGrp="1"/>
          </p:cNvGraphicFramePr>
          <p:nvPr>
            <p:extLst>
              <p:ext uri="{D42A27DB-BD31-4B8C-83A1-F6EECF244321}">
                <p14:modId xmlns:p14="http://schemas.microsoft.com/office/powerpoint/2010/main" val="2109440218"/>
              </p:ext>
            </p:extLst>
          </p:nvPr>
        </p:nvGraphicFramePr>
        <p:xfrm>
          <a:off x="804672" y="554618"/>
          <a:ext cx="7313417" cy="3215386"/>
        </p:xfrm>
        <a:graphic>
          <a:graphicData uri="http://schemas.openxmlformats.org/drawingml/2006/table">
            <a:tbl>
              <a:tblPr firstRow="1" bandRow="1">
                <a:tableStyleId>{284E427A-3D55-4303-BF80-6455036E1DE7}</a:tableStyleId>
              </a:tblPr>
              <a:tblGrid>
                <a:gridCol w="560112">
                  <a:extLst>
                    <a:ext uri="{9D8B030D-6E8A-4147-A177-3AD203B41FA5}">
                      <a16:colId xmlns:a16="http://schemas.microsoft.com/office/drawing/2014/main" val="1807496596"/>
                    </a:ext>
                  </a:extLst>
                </a:gridCol>
                <a:gridCol w="1125551">
                  <a:extLst>
                    <a:ext uri="{9D8B030D-6E8A-4147-A177-3AD203B41FA5}">
                      <a16:colId xmlns:a16="http://schemas.microsoft.com/office/drawing/2014/main" val="3937319175"/>
                    </a:ext>
                  </a:extLst>
                </a:gridCol>
                <a:gridCol w="1125551">
                  <a:extLst>
                    <a:ext uri="{9D8B030D-6E8A-4147-A177-3AD203B41FA5}">
                      <a16:colId xmlns:a16="http://schemas.microsoft.com/office/drawing/2014/main" val="1296906197"/>
                    </a:ext>
                  </a:extLst>
                </a:gridCol>
                <a:gridCol w="1125551">
                  <a:extLst>
                    <a:ext uri="{9D8B030D-6E8A-4147-A177-3AD203B41FA5}">
                      <a16:colId xmlns:a16="http://schemas.microsoft.com/office/drawing/2014/main" val="367654275"/>
                    </a:ext>
                  </a:extLst>
                </a:gridCol>
                <a:gridCol w="1121526">
                  <a:extLst>
                    <a:ext uri="{9D8B030D-6E8A-4147-A177-3AD203B41FA5}">
                      <a16:colId xmlns:a16="http://schemas.microsoft.com/office/drawing/2014/main" val="2308510344"/>
                    </a:ext>
                  </a:extLst>
                </a:gridCol>
                <a:gridCol w="1101758">
                  <a:extLst>
                    <a:ext uri="{9D8B030D-6E8A-4147-A177-3AD203B41FA5}">
                      <a16:colId xmlns:a16="http://schemas.microsoft.com/office/drawing/2014/main" val="105481377"/>
                    </a:ext>
                  </a:extLst>
                </a:gridCol>
                <a:gridCol w="1153368">
                  <a:extLst>
                    <a:ext uri="{9D8B030D-6E8A-4147-A177-3AD203B41FA5}">
                      <a16:colId xmlns:a16="http://schemas.microsoft.com/office/drawing/2014/main" val="2270304594"/>
                    </a:ext>
                  </a:extLst>
                </a:gridCol>
              </a:tblGrid>
              <a:tr h="470387">
                <a:tc>
                  <a:txBody>
                    <a:bodyPr/>
                    <a:lstStyle/>
                    <a:p>
                      <a:r>
                        <a:rPr lang="en-US" sz="1000" dirty="0">
                          <a:latin typeface="Times New Roman" panose="02020603050405020304" pitchFamily="18" charset="0"/>
                          <a:cs typeface="Times New Roman" panose="02020603050405020304" pitchFamily="18" charset="0"/>
                        </a:rPr>
                        <a:t>Year</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Title</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Dataset</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Compared Models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Proposed Model</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Performance Metrics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Authors</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68116288"/>
                  </a:ext>
                </a:extLst>
              </a:tr>
              <a:tr h="1275845">
                <a:tc>
                  <a:txBody>
                    <a:bodyPr/>
                    <a:lstStyle/>
                    <a:p>
                      <a:r>
                        <a:rPr lang="en-US" sz="1000" dirty="0">
                          <a:latin typeface="Times New Roman" panose="02020603050405020304" pitchFamily="18" charset="0"/>
                          <a:cs typeface="Times New Roman" panose="02020603050405020304" pitchFamily="18" charset="0"/>
                        </a:rPr>
                        <a:t>2021</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A unified Convolutional Neural network for dental Caries Classification</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Dental X-ray images collected from Kaggle dataset.</a:t>
                      </a:r>
                    </a:p>
                    <a:p>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Unified </a:t>
                      </a:r>
                      <a:r>
                        <a:rPr lang="en-IN" sz="1000" dirty="0" err="1">
                          <a:latin typeface="Times New Roman" panose="02020603050405020304" pitchFamily="18" charset="0"/>
                          <a:cs typeface="Times New Roman" panose="02020603050405020304" pitchFamily="18" charset="0"/>
                        </a:rPr>
                        <a:t>CNN,Traditional</a:t>
                      </a:r>
                      <a:r>
                        <a:rPr lang="en-IN" sz="1000" dirty="0">
                          <a:latin typeface="Times New Roman" panose="02020603050405020304" pitchFamily="18" charset="0"/>
                          <a:cs typeface="Times New Roman" panose="02020603050405020304" pitchFamily="18" charset="0"/>
                        </a:rPr>
                        <a:t> </a:t>
                      </a:r>
                      <a:r>
                        <a:rPr lang="en-IN" sz="1000" dirty="0" err="1">
                          <a:latin typeface="Times New Roman" panose="02020603050405020304" pitchFamily="18" charset="0"/>
                          <a:cs typeface="Times New Roman" panose="02020603050405020304" pitchFamily="18" charset="0"/>
                        </a:rPr>
                        <a:t>CNN,pre-ttrained</a:t>
                      </a:r>
                      <a:r>
                        <a:rPr lang="en-IN" sz="1000" dirty="0">
                          <a:latin typeface="Times New Roman" panose="02020603050405020304" pitchFamily="18" charset="0"/>
                          <a:cs typeface="Times New Roman" panose="02020603050405020304" pitchFamily="18" charset="0"/>
                        </a:rPr>
                        <a:t> models</a:t>
                      </a:r>
                    </a:p>
                    <a:p>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Unified CNN</a:t>
                      </a:r>
                    </a:p>
                    <a:p>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Accuracy=93</a:t>
                      </a:r>
                    </a:p>
                    <a:p>
                      <a:r>
                        <a:rPr lang="en-IN" sz="1000" dirty="0">
                          <a:latin typeface="Times New Roman" panose="02020603050405020304" pitchFamily="18" charset="0"/>
                          <a:cs typeface="Times New Roman" panose="02020603050405020304" pitchFamily="18" charset="0"/>
                        </a:rPr>
                        <a:t>F1-score=92</a:t>
                      </a:r>
                    </a:p>
                  </a:txBody>
                  <a:tcPr/>
                </a:tc>
                <a:tc>
                  <a:txBody>
                    <a:bodyPr/>
                    <a:lstStyle/>
                    <a:p>
                      <a:r>
                        <a:rPr lang="en-IN" sz="1000" dirty="0" err="1">
                          <a:latin typeface="Times New Roman" panose="02020603050405020304" pitchFamily="18" charset="0"/>
                          <a:cs typeface="Times New Roman" panose="02020603050405020304" pitchFamily="18" charset="0"/>
                        </a:rPr>
                        <a:t>Golkarieha</a:t>
                      </a:r>
                      <a:r>
                        <a:rPr lang="en-IN" sz="1000" dirty="0">
                          <a:latin typeface="Times New Roman" panose="02020603050405020304" pitchFamily="18" charset="0"/>
                          <a:cs typeface="Times New Roman" panose="02020603050405020304" pitchFamily="18" charset="0"/>
                        </a:rPr>
                        <a:t> et al</a:t>
                      </a:r>
                    </a:p>
                  </a:txBody>
                  <a:tcPr/>
                </a:tc>
                <a:extLst>
                  <a:ext uri="{0D108BD9-81ED-4DB2-BD59-A6C34878D82A}">
                    <a16:rowId xmlns:a16="http://schemas.microsoft.com/office/drawing/2014/main" val="1031554265"/>
                  </a:ext>
                </a:extLst>
              </a:tr>
              <a:tr h="1469154">
                <a:tc>
                  <a:txBody>
                    <a:bodyPr/>
                    <a:lstStyle/>
                    <a:p>
                      <a:r>
                        <a:rPr lang="en-US" sz="1000" dirty="0">
                          <a:latin typeface="Times New Roman" panose="02020603050405020304" pitchFamily="18" charset="0"/>
                          <a:cs typeface="Times New Roman" panose="02020603050405020304" pitchFamily="18" charset="0"/>
                        </a:rPr>
                        <a:t>2023</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Classification of Dental Teeth X-Ray Images Using a Deep Learning CNN Model</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Panoramic Dental X-rays(116 patients, 3712 single tooth images)</a:t>
                      </a:r>
                    </a:p>
                    <a:p>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err="1">
                          <a:latin typeface="Times New Roman" panose="02020603050405020304" pitchFamily="18" charset="0"/>
                          <a:cs typeface="Times New Roman" panose="02020603050405020304" pitchFamily="18" charset="0"/>
                        </a:rPr>
                        <a:t>NasNetMobile+CNN+SGD</a:t>
                      </a:r>
                      <a:endParaRPr lang="en-IN" sz="1000" dirty="0">
                        <a:latin typeface="Times New Roman" panose="02020603050405020304" pitchFamily="18" charset="0"/>
                        <a:cs typeface="Times New Roman" panose="02020603050405020304" pitchFamily="18" charset="0"/>
                      </a:endParaRPr>
                    </a:p>
                    <a:p>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err="1">
                          <a:latin typeface="Times New Roman" panose="02020603050405020304" pitchFamily="18" charset="0"/>
                          <a:cs typeface="Times New Roman" panose="02020603050405020304" pitchFamily="18" charset="0"/>
                        </a:rPr>
                        <a:t>NasNetMobile+CNN+SGD</a:t>
                      </a:r>
                      <a:endParaRPr lang="en-IN" sz="1000" dirty="0">
                        <a:latin typeface="Times New Roman" panose="02020603050405020304" pitchFamily="18" charset="0"/>
                        <a:cs typeface="Times New Roman" panose="02020603050405020304" pitchFamily="18" charset="0"/>
                      </a:endParaRPr>
                    </a:p>
                    <a:p>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Accuracy=84%</a:t>
                      </a:r>
                    </a:p>
                    <a:p>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err="1">
                          <a:latin typeface="Times New Roman" panose="02020603050405020304" pitchFamily="18" charset="0"/>
                          <a:cs typeface="Times New Roman" panose="02020603050405020304" pitchFamily="18" charset="0"/>
                        </a:rPr>
                        <a:t>Dankai</a:t>
                      </a:r>
                      <a:r>
                        <a:rPr lang="en-US" sz="1000" dirty="0">
                          <a:latin typeface="Times New Roman" panose="02020603050405020304" pitchFamily="18" charset="0"/>
                          <a:cs typeface="Times New Roman" panose="02020603050405020304" pitchFamily="18" charset="0"/>
                        </a:rPr>
                        <a:t> Liao</a:t>
                      </a:r>
                    </a:p>
                    <a:p>
                      <a:r>
                        <a:rPr lang="en-US" sz="1000" dirty="0">
                          <a:latin typeface="Times New Roman" panose="02020603050405020304" pitchFamily="18" charset="0"/>
                          <a:cs typeface="Times New Roman" panose="02020603050405020304" pitchFamily="18" charset="0"/>
                        </a:rPr>
                        <a:t>And Carol Anne Hargreaves</a:t>
                      </a:r>
                    </a:p>
                    <a:p>
                      <a:endParaRPr lang="en-US" sz="1000" dirty="0">
                        <a:latin typeface="Times New Roman" panose="02020603050405020304" pitchFamily="18" charset="0"/>
                        <a:cs typeface="Times New Roman" panose="02020603050405020304" pitchFamily="18" charset="0"/>
                      </a:endParaRPr>
                    </a:p>
                    <a:p>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68259573"/>
                  </a:ext>
                </a:extLst>
              </a:tr>
            </a:tbl>
          </a:graphicData>
        </a:graphic>
      </p:graphicFrame>
    </p:spTree>
    <p:extLst>
      <p:ext uri="{BB962C8B-B14F-4D97-AF65-F5344CB8AC3E}">
        <p14:creationId xmlns:p14="http://schemas.microsoft.com/office/powerpoint/2010/main" val="3881721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347C108-AE80-B200-EEF0-C345A3F0E3C7}"/>
              </a:ext>
            </a:extLst>
          </p:cNvPr>
          <p:cNvGraphicFramePr>
            <a:graphicFrameLocks noGrp="1"/>
          </p:cNvGraphicFramePr>
          <p:nvPr>
            <p:extLst>
              <p:ext uri="{D42A27DB-BD31-4B8C-83A1-F6EECF244321}">
                <p14:modId xmlns:p14="http://schemas.microsoft.com/office/powerpoint/2010/main" val="2616654412"/>
              </p:ext>
            </p:extLst>
          </p:nvPr>
        </p:nvGraphicFramePr>
        <p:xfrm>
          <a:off x="1011936" y="677557"/>
          <a:ext cx="6839714" cy="3788386"/>
        </p:xfrm>
        <a:graphic>
          <a:graphicData uri="http://schemas.openxmlformats.org/drawingml/2006/table">
            <a:tbl>
              <a:tblPr firstRow="1" bandRow="1">
                <a:tableStyleId>{284E427A-3D55-4303-BF80-6455036E1DE7}</a:tableStyleId>
              </a:tblPr>
              <a:tblGrid>
                <a:gridCol w="646176">
                  <a:extLst>
                    <a:ext uri="{9D8B030D-6E8A-4147-A177-3AD203B41FA5}">
                      <a16:colId xmlns:a16="http://schemas.microsoft.com/office/drawing/2014/main" val="482007865"/>
                    </a:ext>
                  </a:extLst>
                </a:gridCol>
                <a:gridCol w="1308028">
                  <a:extLst>
                    <a:ext uri="{9D8B030D-6E8A-4147-A177-3AD203B41FA5}">
                      <a16:colId xmlns:a16="http://schemas.microsoft.com/office/drawing/2014/main" val="395687906"/>
                    </a:ext>
                  </a:extLst>
                </a:gridCol>
                <a:gridCol w="977102">
                  <a:extLst>
                    <a:ext uri="{9D8B030D-6E8A-4147-A177-3AD203B41FA5}">
                      <a16:colId xmlns:a16="http://schemas.microsoft.com/office/drawing/2014/main" val="3610236982"/>
                    </a:ext>
                  </a:extLst>
                </a:gridCol>
                <a:gridCol w="977102">
                  <a:extLst>
                    <a:ext uri="{9D8B030D-6E8A-4147-A177-3AD203B41FA5}">
                      <a16:colId xmlns:a16="http://schemas.microsoft.com/office/drawing/2014/main" val="396115150"/>
                    </a:ext>
                  </a:extLst>
                </a:gridCol>
                <a:gridCol w="785512">
                  <a:extLst>
                    <a:ext uri="{9D8B030D-6E8A-4147-A177-3AD203B41FA5}">
                      <a16:colId xmlns:a16="http://schemas.microsoft.com/office/drawing/2014/main" val="4118296400"/>
                    </a:ext>
                  </a:extLst>
                </a:gridCol>
                <a:gridCol w="1168692">
                  <a:extLst>
                    <a:ext uri="{9D8B030D-6E8A-4147-A177-3AD203B41FA5}">
                      <a16:colId xmlns:a16="http://schemas.microsoft.com/office/drawing/2014/main" val="1782937455"/>
                    </a:ext>
                  </a:extLst>
                </a:gridCol>
                <a:gridCol w="977102">
                  <a:extLst>
                    <a:ext uri="{9D8B030D-6E8A-4147-A177-3AD203B41FA5}">
                      <a16:colId xmlns:a16="http://schemas.microsoft.com/office/drawing/2014/main" val="3387241980"/>
                    </a:ext>
                  </a:extLst>
                </a:gridCol>
              </a:tblGrid>
              <a:tr h="365658">
                <a:tc>
                  <a:txBody>
                    <a:bodyPr/>
                    <a:lstStyle/>
                    <a:p>
                      <a:pPr algn="l"/>
                      <a:r>
                        <a:rPr lang="en-US" sz="1000" dirty="0">
                          <a:latin typeface="Times New Roman" panose="02020603050405020304" pitchFamily="18" charset="0"/>
                          <a:cs typeface="Times New Roman" panose="02020603050405020304" pitchFamily="18" charset="0"/>
                        </a:rPr>
                        <a:t>year</a:t>
                      </a:r>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US" sz="1000" dirty="0">
                          <a:latin typeface="Times New Roman" panose="02020603050405020304" pitchFamily="18" charset="0"/>
                          <a:cs typeface="Times New Roman" panose="02020603050405020304" pitchFamily="18" charset="0"/>
                        </a:rPr>
                        <a:t>Title</a:t>
                      </a:r>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US" sz="1000" dirty="0">
                          <a:latin typeface="Times New Roman" panose="02020603050405020304" pitchFamily="18" charset="0"/>
                          <a:cs typeface="Times New Roman" panose="02020603050405020304" pitchFamily="18" charset="0"/>
                        </a:rPr>
                        <a:t>Dataset</a:t>
                      </a:r>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US" sz="1000" dirty="0">
                          <a:latin typeface="Times New Roman" panose="02020603050405020304" pitchFamily="18" charset="0"/>
                          <a:cs typeface="Times New Roman" panose="02020603050405020304" pitchFamily="18" charset="0"/>
                        </a:rPr>
                        <a:t>Compared Models</a:t>
                      </a:r>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US" sz="1000" dirty="0">
                          <a:latin typeface="Times New Roman" panose="02020603050405020304" pitchFamily="18" charset="0"/>
                          <a:cs typeface="Times New Roman" panose="02020603050405020304" pitchFamily="18" charset="0"/>
                        </a:rPr>
                        <a:t>Proposed Models</a:t>
                      </a:r>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US" sz="1000" dirty="0">
                          <a:latin typeface="Times New Roman" panose="02020603050405020304" pitchFamily="18" charset="0"/>
                          <a:cs typeface="Times New Roman" panose="02020603050405020304" pitchFamily="18" charset="0"/>
                        </a:rPr>
                        <a:t>Performance Metrics</a:t>
                      </a:r>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US" sz="1000" dirty="0">
                          <a:latin typeface="Times New Roman" panose="02020603050405020304" pitchFamily="18" charset="0"/>
                          <a:cs typeface="Times New Roman" panose="02020603050405020304" pitchFamily="18" charset="0"/>
                        </a:rPr>
                        <a:t>Authors</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09385403"/>
                  </a:ext>
                </a:extLst>
              </a:tr>
              <a:tr h="992667">
                <a:tc>
                  <a:txBody>
                    <a:bodyPr/>
                    <a:lstStyle/>
                    <a:p>
                      <a:pPr algn="l"/>
                      <a:r>
                        <a:rPr lang="en-US" sz="1000" dirty="0">
                          <a:latin typeface="Times New Roman" panose="02020603050405020304" pitchFamily="18" charset="0"/>
                          <a:cs typeface="Times New Roman" panose="02020603050405020304" pitchFamily="18" charset="0"/>
                        </a:rPr>
                        <a:t>2023</a:t>
                      </a:r>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US" sz="1000" dirty="0">
                          <a:latin typeface="Times New Roman" panose="02020603050405020304" pitchFamily="18" charset="0"/>
                          <a:cs typeface="Times New Roman" panose="02020603050405020304" pitchFamily="18" charset="0"/>
                        </a:rPr>
                        <a:t>An Explainable Deep Learning Model to Prediction Dental Caries Using Panoramic Radiograph Images</a:t>
                      </a:r>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IN" sz="1000" dirty="0">
                          <a:latin typeface="Times New Roman" panose="02020603050405020304" pitchFamily="18" charset="0"/>
                          <a:cs typeface="Times New Roman" panose="02020603050405020304" pitchFamily="18" charset="0"/>
                        </a:rPr>
                        <a:t>Dental Datasets</a:t>
                      </a:r>
                    </a:p>
                    <a:p>
                      <a:pPr algn="l"/>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IN" sz="1000" dirty="0">
                          <a:latin typeface="Times New Roman" panose="02020603050405020304" pitchFamily="18" charset="0"/>
                          <a:cs typeface="Times New Roman" panose="02020603050405020304" pitchFamily="18" charset="0"/>
                        </a:rPr>
                        <a:t>EfficientNet-B0</a:t>
                      </a:r>
                    </a:p>
                    <a:p>
                      <a:pPr algn="l"/>
                      <a:r>
                        <a:rPr lang="en-IN" sz="1000" dirty="0">
                          <a:latin typeface="Times New Roman" panose="02020603050405020304" pitchFamily="18" charset="0"/>
                          <a:cs typeface="Times New Roman" panose="02020603050405020304" pitchFamily="18" charset="0"/>
                        </a:rPr>
                        <a:t>DenseNet-121</a:t>
                      </a:r>
                    </a:p>
                    <a:p>
                      <a:pPr algn="l"/>
                      <a:r>
                        <a:rPr lang="en-IN" sz="1000" dirty="0">
                          <a:latin typeface="Times New Roman" panose="02020603050405020304" pitchFamily="18" charset="0"/>
                          <a:cs typeface="Times New Roman" panose="02020603050405020304" pitchFamily="18" charset="0"/>
                        </a:rPr>
                        <a:t>ResNet-50</a:t>
                      </a:r>
                    </a:p>
                    <a:p>
                      <a:pPr algn="l"/>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IN" sz="1000" dirty="0">
                          <a:latin typeface="Times New Roman" panose="02020603050405020304" pitchFamily="18" charset="0"/>
                          <a:cs typeface="Times New Roman" panose="02020603050405020304" pitchFamily="18" charset="0"/>
                        </a:rPr>
                        <a:t>ResNet50</a:t>
                      </a:r>
                    </a:p>
                    <a:p>
                      <a:pPr algn="l"/>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IN" sz="1000" dirty="0">
                          <a:latin typeface="Times New Roman" panose="02020603050405020304" pitchFamily="18" charset="0"/>
                          <a:cs typeface="Times New Roman" panose="02020603050405020304" pitchFamily="18" charset="0"/>
                        </a:rPr>
                        <a:t>Accuracy=92</a:t>
                      </a:r>
                    </a:p>
                    <a:p>
                      <a:pPr algn="l"/>
                      <a:r>
                        <a:rPr lang="en-IN" sz="1000" dirty="0">
                          <a:latin typeface="Times New Roman" panose="02020603050405020304" pitchFamily="18" charset="0"/>
                          <a:cs typeface="Times New Roman" panose="02020603050405020304" pitchFamily="18" charset="0"/>
                        </a:rPr>
                        <a:t>Sensitivity=87.33</a:t>
                      </a:r>
                    </a:p>
                    <a:p>
                      <a:pPr algn="l"/>
                      <a:r>
                        <a:rPr lang="en-IN" sz="1000" dirty="0">
                          <a:latin typeface="Times New Roman" panose="02020603050405020304" pitchFamily="18" charset="0"/>
                          <a:cs typeface="Times New Roman" panose="02020603050405020304" pitchFamily="18" charset="0"/>
                        </a:rPr>
                        <a:t>F1-score=91.61</a:t>
                      </a:r>
                    </a:p>
                    <a:p>
                      <a:pPr algn="l"/>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IN" sz="1000" dirty="0">
                          <a:latin typeface="Times New Roman" panose="02020603050405020304" pitchFamily="18" charset="0"/>
                          <a:cs typeface="Times New Roman" panose="02020603050405020304" pitchFamily="18" charset="0"/>
                        </a:rPr>
                        <a:t>Faruk </a:t>
                      </a:r>
                      <a:r>
                        <a:rPr lang="en-IN" sz="1000" dirty="0" err="1">
                          <a:latin typeface="Times New Roman" panose="02020603050405020304" pitchFamily="18" charset="0"/>
                          <a:cs typeface="Times New Roman" panose="02020603050405020304" pitchFamily="18" charset="0"/>
                        </a:rPr>
                        <a:t>Oztekin</a:t>
                      </a:r>
                      <a:r>
                        <a:rPr lang="en-IN" sz="1000" dirty="0">
                          <a:latin typeface="Times New Roman" panose="02020603050405020304" pitchFamily="18" charset="0"/>
                          <a:cs typeface="Times New Roman" panose="02020603050405020304" pitchFamily="18" charset="0"/>
                        </a:rPr>
                        <a:t> et al.</a:t>
                      </a:r>
                    </a:p>
                    <a:p>
                      <a:pPr algn="l"/>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70323922"/>
                  </a:ext>
                </a:extLst>
              </a:tr>
              <a:tr h="1080098">
                <a:tc>
                  <a:txBody>
                    <a:bodyPr/>
                    <a:lstStyle/>
                    <a:p>
                      <a:pPr algn="l"/>
                      <a:r>
                        <a:rPr lang="en-US" sz="1000" dirty="0">
                          <a:latin typeface="Times New Roman" panose="02020603050405020304" pitchFamily="18" charset="0"/>
                          <a:cs typeface="Times New Roman" panose="02020603050405020304" pitchFamily="18" charset="0"/>
                        </a:rPr>
                        <a:t>2023</a:t>
                      </a:r>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US" sz="1000" dirty="0">
                          <a:latin typeface="Times New Roman" panose="02020603050405020304" pitchFamily="18" charset="0"/>
                          <a:cs typeface="Times New Roman" panose="02020603050405020304" pitchFamily="18" charset="0"/>
                        </a:rPr>
                        <a:t>Automated deep learning for classification of dental implant radiographs using a large multi-center dataset</a:t>
                      </a:r>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US" sz="1000" dirty="0">
                          <a:latin typeface="Times New Roman" panose="02020603050405020304" pitchFamily="18" charset="0"/>
                          <a:cs typeface="Times New Roman" panose="02020603050405020304" pitchFamily="18" charset="0"/>
                        </a:rPr>
                        <a:t>156,965 panoramic and periapical radiographic images</a:t>
                      </a:r>
                    </a:p>
                    <a:p>
                      <a:pPr algn="l"/>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IN" sz="1000" dirty="0">
                          <a:latin typeface="Times New Roman" panose="02020603050405020304" pitchFamily="18" charset="0"/>
                          <a:cs typeface="Times New Roman" panose="02020603050405020304" pitchFamily="18" charset="0"/>
                        </a:rPr>
                        <a:t>DL model</a:t>
                      </a:r>
                    </a:p>
                    <a:p>
                      <a:pPr algn="l"/>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IN" sz="1000" dirty="0">
                          <a:latin typeface="Times New Roman" panose="02020603050405020304" pitchFamily="18" charset="0"/>
                          <a:cs typeface="Times New Roman" panose="02020603050405020304" pitchFamily="18" charset="0"/>
                        </a:rPr>
                        <a:t>DL model</a:t>
                      </a:r>
                    </a:p>
                    <a:p>
                      <a:pPr algn="l"/>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IN" sz="1000" dirty="0">
                          <a:latin typeface="Times New Roman" panose="02020603050405020304" pitchFamily="18" charset="0"/>
                          <a:cs typeface="Times New Roman" panose="02020603050405020304" pitchFamily="18" charset="0"/>
                        </a:rPr>
                        <a:t>Accuracy=88.53</a:t>
                      </a:r>
                    </a:p>
                    <a:p>
                      <a:pPr algn="l"/>
                      <a:r>
                        <a:rPr lang="en-IN" sz="1000" dirty="0">
                          <a:latin typeface="Times New Roman" panose="02020603050405020304" pitchFamily="18" charset="0"/>
                          <a:cs typeface="Times New Roman" panose="02020603050405020304" pitchFamily="18" charset="0"/>
                        </a:rPr>
                        <a:t>Precision=85.70</a:t>
                      </a:r>
                    </a:p>
                    <a:p>
                      <a:pPr algn="l"/>
                      <a:r>
                        <a:rPr lang="en-IN" sz="1000" dirty="0">
                          <a:latin typeface="Times New Roman" panose="02020603050405020304" pitchFamily="18" charset="0"/>
                          <a:cs typeface="Times New Roman" panose="02020603050405020304" pitchFamily="18" charset="0"/>
                        </a:rPr>
                        <a:t>Recall=82.30</a:t>
                      </a:r>
                    </a:p>
                    <a:p>
                      <a:pPr algn="l"/>
                      <a:r>
                        <a:rPr lang="en-IN" sz="1000" dirty="0">
                          <a:latin typeface="Times New Roman" panose="02020603050405020304" pitchFamily="18" charset="0"/>
                          <a:cs typeface="Times New Roman" panose="02020603050405020304" pitchFamily="18" charset="0"/>
                        </a:rPr>
                        <a:t>F1-score=84</a:t>
                      </a:r>
                    </a:p>
                    <a:p>
                      <a:pPr algn="l"/>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IN" sz="1000" dirty="0" err="1">
                          <a:latin typeface="Times New Roman" panose="02020603050405020304" pitchFamily="18" charset="0"/>
                          <a:cs typeface="Times New Roman" panose="02020603050405020304" pitchFamily="18" charset="0"/>
                        </a:rPr>
                        <a:t>Wonse</a:t>
                      </a:r>
                      <a:r>
                        <a:rPr lang="en-IN" sz="1000" dirty="0">
                          <a:latin typeface="Times New Roman" panose="02020603050405020304" pitchFamily="18" charset="0"/>
                          <a:cs typeface="Times New Roman" panose="02020603050405020304" pitchFamily="18" charset="0"/>
                        </a:rPr>
                        <a:t> Park et al.</a:t>
                      </a:r>
                    </a:p>
                    <a:p>
                      <a:pPr algn="l"/>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34805210"/>
                  </a:ext>
                </a:extLst>
              </a:tr>
              <a:tr h="1228066">
                <a:tc>
                  <a:txBody>
                    <a:bodyPr/>
                    <a:lstStyle/>
                    <a:p>
                      <a:pPr algn="l"/>
                      <a:r>
                        <a:rPr lang="en-IN" sz="1000" dirty="0">
                          <a:latin typeface="Times New Roman" panose="02020603050405020304" pitchFamily="18" charset="0"/>
                          <a:cs typeface="Times New Roman" panose="02020603050405020304" pitchFamily="18" charset="0"/>
                        </a:rPr>
                        <a:t>2023</a:t>
                      </a:r>
                    </a:p>
                  </a:txBody>
                  <a:tcPr/>
                </a:tc>
                <a:tc>
                  <a:txBody>
                    <a:bodyPr/>
                    <a:lstStyle/>
                    <a:p>
                      <a:pPr algn="l"/>
                      <a:r>
                        <a:rPr lang="en-US" sz="1000" dirty="0">
                          <a:latin typeface="Times New Roman" panose="02020603050405020304" pitchFamily="18" charset="0"/>
                          <a:cs typeface="Times New Roman" panose="02020603050405020304" pitchFamily="18" charset="0"/>
                        </a:rPr>
                        <a:t>Periodontal Disease Classification with Color Teeth Images Using Convolutional Neural Networks</a:t>
                      </a:r>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US" sz="1000" dirty="0">
                          <a:latin typeface="Times New Roman" panose="02020603050405020304" pitchFamily="18" charset="0"/>
                          <a:cs typeface="Times New Roman" panose="02020603050405020304" pitchFamily="18" charset="0"/>
                        </a:rPr>
                        <a:t>220 frontal tooth images collected over the internet.</a:t>
                      </a:r>
                    </a:p>
                    <a:p>
                      <a:pPr algn="l"/>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IN" sz="1000" dirty="0">
                          <a:latin typeface="Times New Roman" panose="02020603050405020304" pitchFamily="18" charset="0"/>
                          <a:cs typeface="Times New Roman" panose="02020603050405020304" pitchFamily="18" charset="0"/>
                        </a:rPr>
                        <a:t>CNN,ResNet52</a:t>
                      </a:r>
                    </a:p>
                    <a:p>
                      <a:pPr algn="l"/>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IN" sz="1000" dirty="0">
                          <a:latin typeface="Times New Roman" panose="02020603050405020304" pitchFamily="18" charset="0"/>
                          <a:cs typeface="Times New Roman" panose="02020603050405020304" pitchFamily="18" charset="0"/>
                        </a:rPr>
                        <a:t>CNN</a:t>
                      </a:r>
                    </a:p>
                  </a:txBody>
                  <a:tcPr/>
                </a:tc>
                <a:tc>
                  <a:txBody>
                    <a:bodyPr/>
                    <a:lstStyle/>
                    <a:p>
                      <a:pPr algn="l"/>
                      <a:r>
                        <a:rPr lang="en-IN" sz="1000" dirty="0">
                          <a:latin typeface="Times New Roman" panose="02020603050405020304" pitchFamily="18" charset="0"/>
                          <a:cs typeface="Times New Roman" panose="02020603050405020304" pitchFamily="18" charset="0"/>
                        </a:rPr>
                        <a:t>Accuracy=74.54</a:t>
                      </a:r>
                    </a:p>
                    <a:p>
                      <a:pPr algn="l"/>
                      <a:endParaRPr lang="en-IN" sz="1000" dirty="0">
                        <a:latin typeface="Times New Roman" panose="02020603050405020304" pitchFamily="18" charset="0"/>
                        <a:cs typeface="Times New Roman" panose="02020603050405020304" pitchFamily="18" charset="0"/>
                      </a:endParaRPr>
                    </a:p>
                  </a:txBody>
                  <a:tcPr/>
                </a:tc>
                <a:tc>
                  <a:txBody>
                    <a:bodyPr/>
                    <a:lstStyle/>
                    <a:p>
                      <a:pPr algn="l"/>
                      <a:r>
                        <a:rPr lang="en-IN" sz="1000" dirty="0">
                          <a:latin typeface="Times New Roman" panose="02020603050405020304" pitchFamily="18" charset="0"/>
                          <a:cs typeface="Times New Roman" panose="02020603050405020304" pitchFamily="18" charset="0"/>
                        </a:rPr>
                        <a:t>Park et al.</a:t>
                      </a:r>
                    </a:p>
                  </a:txBody>
                  <a:tcPr/>
                </a:tc>
                <a:extLst>
                  <a:ext uri="{0D108BD9-81ED-4DB2-BD59-A6C34878D82A}">
                    <a16:rowId xmlns:a16="http://schemas.microsoft.com/office/drawing/2014/main" val="3811780332"/>
                  </a:ext>
                </a:extLst>
              </a:tr>
            </a:tbl>
          </a:graphicData>
        </a:graphic>
      </p:graphicFrame>
    </p:spTree>
    <p:extLst>
      <p:ext uri="{BB962C8B-B14F-4D97-AF65-F5344CB8AC3E}">
        <p14:creationId xmlns:p14="http://schemas.microsoft.com/office/powerpoint/2010/main" val="770228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D04C102-8364-CF6A-2F93-39550C649569}"/>
              </a:ext>
            </a:extLst>
          </p:cNvPr>
          <p:cNvGraphicFramePr>
            <a:graphicFrameLocks noGrp="1"/>
          </p:cNvGraphicFramePr>
          <p:nvPr>
            <p:extLst>
              <p:ext uri="{D42A27DB-BD31-4B8C-83A1-F6EECF244321}">
                <p14:modId xmlns:p14="http://schemas.microsoft.com/office/powerpoint/2010/main" val="476249444"/>
              </p:ext>
            </p:extLst>
          </p:nvPr>
        </p:nvGraphicFramePr>
        <p:xfrm>
          <a:off x="1524000" y="539751"/>
          <a:ext cx="6095999" cy="4014489"/>
        </p:xfrm>
        <a:graphic>
          <a:graphicData uri="http://schemas.openxmlformats.org/drawingml/2006/table">
            <a:tbl>
              <a:tblPr firstRow="1" bandRow="1">
                <a:tableStyleId>{284E427A-3D55-4303-BF80-6455036E1DE7}</a:tableStyleId>
              </a:tblPr>
              <a:tblGrid>
                <a:gridCol w="536448">
                  <a:extLst>
                    <a:ext uri="{9D8B030D-6E8A-4147-A177-3AD203B41FA5}">
                      <a16:colId xmlns:a16="http://schemas.microsoft.com/office/drawing/2014/main" val="1205029553"/>
                    </a:ext>
                  </a:extLst>
                </a:gridCol>
                <a:gridCol w="1205266">
                  <a:extLst>
                    <a:ext uri="{9D8B030D-6E8A-4147-A177-3AD203B41FA5}">
                      <a16:colId xmlns:a16="http://schemas.microsoft.com/office/drawing/2014/main" val="266712952"/>
                    </a:ext>
                  </a:extLst>
                </a:gridCol>
                <a:gridCol w="870857">
                  <a:extLst>
                    <a:ext uri="{9D8B030D-6E8A-4147-A177-3AD203B41FA5}">
                      <a16:colId xmlns:a16="http://schemas.microsoft.com/office/drawing/2014/main" val="3917854183"/>
                    </a:ext>
                  </a:extLst>
                </a:gridCol>
                <a:gridCol w="870857">
                  <a:extLst>
                    <a:ext uri="{9D8B030D-6E8A-4147-A177-3AD203B41FA5}">
                      <a16:colId xmlns:a16="http://schemas.microsoft.com/office/drawing/2014/main" val="751818117"/>
                    </a:ext>
                  </a:extLst>
                </a:gridCol>
                <a:gridCol w="771580">
                  <a:extLst>
                    <a:ext uri="{9D8B030D-6E8A-4147-A177-3AD203B41FA5}">
                      <a16:colId xmlns:a16="http://schemas.microsoft.com/office/drawing/2014/main" val="1346779559"/>
                    </a:ext>
                  </a:extLst>
                </a:gridCol>
                <a:gridCol w="999744">
                  <a:extLst>
                    <a:ext uri="{9D8B030D-6E8A-4147-A177-3AD203B41FA5}">
                      <a16:colId xmlns:a16="http://schemas.microsoft.com/office/drawing/2014/main" val="3045614266"/>
                    </a:ext>
                  </a:extLst>
                </a:gridCol>
                <a:gridCol w="841247">
                  <a:extLst>
                    <a:ext uri="{9D8B030D-6E8A-4147-A177-3AD203B41FA5}">
                      <a16:colId xmlns:a16="http://schemas.microsoft.com/office/drawing/2014/main" val="1571361928"/>
                    </a:ext>
                  </a:extLst>
                </a:gridCol>
              </a:tblGrid>
              <a:tr h="348215">
                <a:tc>
                  <a:txBody>
                    <a:bodyPr/>
                    <a:lstStyle/>
                    <a:p>
                      <a:r>
                        <a:rPr lang="en-US" sz="1000" dirty="0">
                          <a:latin typeface="Times New Roman" panose="02020603050405020304" pitchFamily="18" charset="0"/>
                          <a:cs typeface="Times New Roman" panose="02020603050405020304" pitchFamily="18" charset="0"/>
                        </a:rPr>
                        <a:t>Year</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Title</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Dataset</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Compared Models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Proposed Models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Performance Metrics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Authors</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31985861"/>
                  </a:ext>
                </a:extLst>
              </a:tr>
              <a:tr h="1821433">
                <a:tc>
                  <a:txBody>
                    <a:bodyPr/>
                    <a:lstStyle/>
                    <a:p>
                      <a:r>
                        <a:rPr lang="en-US" sz="1000" dirty="0">
                          <a:latin typeface="Times New Roman" panose="02020603050405020304" pitchFamily="18" charset="0"/>
                          <a:cs typeface="Times New Roman" panose="02020603050405020304" pitchFamily="18" charset="0"/>
                        </a:rPr>
                        <a:t>2025</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Advanced Deep Learning Techniques for Classifying Dental Conditions Using Panoramic X-Ray Images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obtained from the </a:t>
                      </a:r>
                      <a:r>
                        <a:rPr lang="en-US" sz="1000" dirty="0" err="1">
                          <a:latin typeface="Times New Roman" panose="02020603050405020304" pitchFamily="18" charset="0"/>
                          <a:cs typeface="Times New Roman" panose="02020603050405020304" pitchFamily="18" charset="0"/>
                        </a:rPr>
                        <a:t>Roboflow</a:t>
                      </a:r>
                      <a:r>
                        <a:rPr lang="en-US" sz="1000" dirty="0">
                          <a:latin typeface="Times New Roman" panose="02020603050405020304" pitchFamily="18" charset="0"/>
                          <a:cs typeface="Times New Roman" panose="02020603050405020304" pitchFamily="18" charset="0"/>
                        </a:rPr>
                        <a:t> platform, comprising panoramic dental X-ray images annotated for multiple dental conditions</a:t>
                      </a:r>
                    </a:p>
                    <a:p>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CNN,CNN+DT,CNN+RF,CNN+SVM,VGG16,ResNet50,Xception</a:t>
                      </a:r>
                    </a:p>
                    <a:p>
                      <a:endParaRPr lang="en-IN" sz="1000" dirty="0">
                        <a:latin typeface="Times New Roman" panose="02020603050405020304" pitchFamily="18" charset="0"/>
                        <a:cs typeface="Times New Roman" panose="02020603050405020304" pitchFamily="18" charset="0"/>
                      </a:endParaRPr>
                    </a:p>
                    <a:p>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CNN+RF</a:t>
                      </a:r>
                    </a:p>
                  </a:txBody>
                  <a:tcPr/>
                </a:tc>
                <a:tc>
                  <a:txBody>
                    <a:bodyPr/>
                    <a:lstStyle/>
                    <a:p>
                      <a:r>
                        <a:rPr lang="en-IN" sz="1000" dirty="0">
                          <a:latin typeface="Times New Roman" panose="02020603050405020304" pitchFamily="18" charset="0"/>
                          <a:cs typeface="Times New Roman" panose="02020603050405020304" pitchFamily="18" charset="0"/>
                        </a:rPr>
                        <a:t>Accuracy=85.4</a:t>
                      </a:r>
                    </a:p>
                    <a:p>
                      <a:r>
                        <a:rPr lang="en-IN" sz="1000" dirty="0">
                          <a:latin typeface="Times New Roman" panose="02020603050405020304" pitchFamily="18" charset="0"/>
                          <a:cs typeface="Times New Roman" panose="02020603050405020304" pitchFamily="18" charset="0"/>
                        </a:rPr>
                        <a:t>Macro Precision=84.7</a:t>
                      </a:r>
                    </a:p>
                    <a:p>
                      <a:r>
                        <a:rPr lang="en-IN" sz="1000" dirty="0">
                          <a:latin typeface="Times New Roman" panose="02020603050405020304" pitchFamily="18" charset="0"/>
                          <a:cs typeface="Times New Roman" panose="02020603050405020304" pitchFamily="18" charset="0"/>
                        </a:rPr>
                        <a:t>Macro Recall=83.9</a:t>
                      </a:r>
                    </a:p>
                    <a:p>
                      <a:r>
                        <a:rPr lang="en-IN" sz="1000" dirty="0">
                          <a:latin typeface="Times New Roman" panose="02020603050405020304" pitchFamily="18" charset="0"/>
                          <a:cs typeface="Times New Roman" panose="02020603050405020304" pitchFamily="18" charset="0"/>
                        </a:rPr>
                        <a:t>Macro f1-score=84.3</a:t>
                      </a:r>
                    </a:p>
                    <a:p>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Alireza </a:t>
                      </a:r>
                      <a:r>
                        <a:rPr lang="en-IN" sz="1000" dirty="0" err="1">
                          <a:latin typeface="Times New Roman" panose="02020603050405020304" pitchFamily="18" charset="0"/>
                          <a:cs typeface="Times New Roman" panose="02020603050405020304" pitchFamily="18" charset="0"/>
                        </a:rPr>
                        <a:t>Golkarieh</a:t>
                      </a:r>
                      <a:r>
                        <a:rPr lang="en-IN" sz="1000" dirty="0">
                          <a:latin typeface="Times New Roman" panose="02020603050405020304" pitchFamily="18" charset="0"/>
                          <a:cs typeface="Times New Roman" panose="02020603050405020304" pitchFamily="18" charset="0"/>
                        </a:rPr>
                        <a:t>, Bahareh </a:t>
                      </a:r>
                      <a:r>
                        <a:rPr lang="en-IN" sz="1000" dirty="0" err="1">
                          <a:latin typeface="Times New Roman" panose="02020603050405020304" pitchFamily="18" charset="0"/>
                          <a:cs typeface="Times New Roman" panose="02020603050405020304" pitchFamily="18" charset="0"/>
                        </a:rPr>
                        <a:t>Afjehsoleymani</a:t>
                      </a:r>
                      <a:r>
                        <a:rPr lang="en-IN" sz="1000" dirty="0">
                          <a:latin typeface="Times New Roman" panose="02020603050405020304" pitchFamily="18" charset="0"/>
                          <a:cs typeface="Times New Roman" panose="02020603050405020304" pitchFamily="18" charset="0"/>
                        </a:rPr>
                        <a:t> et al.</a:t>
                      </a:r>
                    </a:p>
                    <a:p>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29196213"/>
                  </a:ext>
                </a:extLst>
              </a:tr>
              <a:tr h="1545609">
                <a:tc>
                  <a:txBody>
                    <a:bodyPr/>
                    <a:lstStyle/>
                    <a:p>
                      <a:r>
                        <a:rPr lang="en-US" sz="1000" dirty="0">
                          <a:latin typeface="Times New Roman" panose="02020603050405020304" pitchFamily="18" charset="0"/>
                          <a:cs typeface="Times New Roman" panose="02020603050405020304" pitchFamily="18" charset="0"/>
                        </a:rPr>
                        <a:t>2025</a:t>
                      </a:r>
                      <a:endParaRPr lang="en-IN" sz="1000" dirty="0">
                        <a:latin typeface="Times New Roman" panose="02020603050405020304" pitchFamily="18" charset="0"/>
                        <a:cs typeface="Times New Roman" panose="02020603050405020304" pitchFamily="18" charset="0"/>
                      </a:endParaRPr>
                    </a:p>
                  </a:txBody>
                  <a:tcPr/>
                </a:tc>
                <a:tc>
                  <a:txBody>
                    <a:bodyPr/>
                    <a:lstStyle/>
                    <a:p>
                      <a:endParaRPr lang="en-US" sz="1000" dirty="0">
                        <a:latin typeface="Times New Roman" panose="02020603050405020304" pitchFamily="18" charset="0"/>
                        <a:cs typeface="Times New Roman" panose="02020603050405020304" pitchFamily="18" charset="0"/>
                      </a:endParaRPr>
                    </a:p>
                    <a:p>
                      <a:r>
                        <a:rPr lang="en-US" sz="1000" dirty="0">
                          <a:latin typeface="Times New Roman" panose="02020603050405020304" pitchFamily="18" charset="0"/>
                          <a:cs typeface="Times New Roman" panose="02020603050405020304" pitchFamily="18" charset="0"/>
                        </a:rPr>
                        <a:t>A Comprehensive Deep Learning Framework for Dental Disease Classification</a:t>
                      </a:r>
                    </a:p>
                    <a:p>
                      <a:endParaRPr lang="en-US" sz="1000" dirty="0">
                        <a:latin typeface="Times New Roman" panose="02020603050405020304" pitchFamily="18" charset="0"/>
                        <a:cs typeface="Times New Roman" panose="02020603050405020304" pitchFamily="18" charset="0"/>
                      </a:endParaRPr>
                    </a:p>
                    <a:p>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Clinically sourced dental image dataset (10,573 images)</a:t>
                      </a:r>
                    </a:p>
                  </a:txBody>
                  <a:tcPr/>
                </a:tc>
                <a:tc>
                  <a:txBody>
                    <a:bodyPr/>
                    <a:lstStyle/>
                    <a:p>
                      <a:r>
                        <a:rPr lang="en-IN" sz="1000" dirty="0">
                          <a:latin typeface="Times New Roman" panose="02020603050405020304" pitchFamily="18" charset="0"/>
                          <a:cs typeface="Times New Roman" panose="02020603050405020304" pitchFamily="18" charset="0"/>
                        </a:rPr>
                        <a:t>5-layer CNN,3-layer CNN,EfficientNet,ResNet50</a:t>
                      </a:r>
                    </a:p>
                    <a:p>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5-layer CNN</a:t>
                      </a:r>
                    </a:p>
                    <a:p>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Accuracy=87.6</a:t>
                      </a:r>
                    </a:p>
                    <a:p>
                      <a:r>
                        <a:rPr lang="en-IN" sz="1000" dirty="0">
                          <a:latin typeface="Times New Roman" panose="02020603050405020304" pitchFamily="18" charset="0"/>
                          <a:cs typeface="Times New Roman" panose="02020603050405020304" pitchFamily="18" charset="0"/>
                        </a:rPr>
                        <a:t>Precision=86.2</a:t>
                      </a:r>
                    </a:p>
                    <a:p>
                      <a:r>
                        <a:rPr lang="en-IN" sz="1000" dirty="0">
                          <a:latin typeface="Times New Roman" panose="02020603050405020304" pitchFamily="18" charset="0"/>
                          <a:cs typeface="Times New Roman" panose="02020603050405020304" pitchFamily="18" charset="0"/>
                        </a:rPr>
                        <a:t>Recall=85.4</a:t>
                      </a:r>
                    </a:p>
                    <a:p>
                      <a:r>
                        <a:rPr lang="en-IN" sz="1000" dirty="0">
                          <a:latin typeface="Times New Roman" panose="02020603050405020304" pitchFamily="18" charset="0"/>
                          <a:cs typeface="Times New Roman" panose="02020603050405020304" pitchFamily="18" charset="0"/>
                        </a:rPr>
                        <a:t>F1-score=85.8</a:t>
                      </a:r>
                    </a:p>
                    <a:p>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Parkhi et al.,</a:t>
                      </a:r>
                    </a:p>
                  </a:txBody>
                  <a:tcPr/>
                </a:tc>
                <a:extLst>
                  <a:ext uri="{0D108BD9-81ED-4DB2-BD59-A6C34878D82A}">
                    <a16:rowId xmlns:a16="http://schemas.microsoft.com/office/drawing/2014/main" val="478423504"/>
                  </a:ext>
                </a:extLst>
              </a:tr>
            </a:tbl>
          </a:graphicData>
        </a:graphic>
      </p:graphicFrame>
    </p:spTree>
    <p:extLst>
      <p:ext uri="{BB962C8B-B14F-4D97-AF65-F5344CB8AC3E}">
        <p14:creationId xmlns:p14="http://schemas.microsoft.com/office/powerpoint/2010/main" val="1117381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5F65E-4689-277B-6049-533EDEE44562}"/>
              </a:ext>
            </a:extLst>
          </p:cNvPr>
          <p:cNvSpPr>
            <a:spLocks noGrp="1"/>
          </p:cNvSpPr>
          <p:nvPr>
            <p:ph type="title"/>
          </p:nvPr>
        </p:nvSpPr>
        <p:spPr>
          <a:xfrm>
            <a:off x="371254" y="456077"/>
            <a:ext cx="1792082" cy="651611"/>
          </a:xfrm>
        </p:spPr>
        <p:txBody>
          <a:bodyPr/>
          <a:lstStyle/>
          <a:p>
            <a:r>
              <a:rPr lang="en-US" sz="2400" dirty="0">
                <a:solidFill>
                  <a:schemeClr val="bg1">
                    <a:lumMod val="50000"/>
                  </a:schemeClr>
                </a:solidFill>
                <a:latin typeface="Times New Roman" panose="02020603050405020304" pitchFamily="18" charset="0"/>
                <a:cs typeface="Times New Roman" panose="02020603050405020304" pitchFamily="18" charset="0"/>
              </a:rPr>
              <a:t>Observations</a:t>
            </a:r>
            <a:endParaRPr lang="en-IN" sz="24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12F9066-30D8-35E1-6540-ECFFD0BF13D5}"/>
              </a:ext>
            </a:extLst>
          </p:cNvPr>
          <p:cNvSpPr txBox="1"/>
          <p:nvPr/>
        </p:nvSpPr>
        <p:spPr>
          <a:xfrm>
            <a:off x="371254" y="1107688"/>
            <a:ext cx="7943690" cy="360848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Most existing models rely only on CNN with </a:t>
            </a:r>
            <a:r>
              <a:rPr lang="en-US" dirty="0" err="1">
                <a:latin typeface="Times New Roman" panose="02020603050405020304" pitchFamily="18" charset="0"/>
                <a:cs typeface="Times New Roman" panose="02020603050405020304" pitchFamily="18" charset="0"/>
              </a:rPr>
              <a:t>Softmax</a:t>
            </a:r>
            <a:r>
              <a:rPr lang="en-US" dirty="0">
                <a:latin typeface="Times New Roman" panose="02020603050405020304" pitchFamily="18" charset="0"/>
                <a:cs typeface="Times New Roman" panose="02020603050405020304" pitchFamily="18" charset="0"/>
              </a:rPr>
              <a:t>, which may cause overfitting and weak class separation.</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Many studies do not use a hybrid approach combining deep learning with machine learning.</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Several models focus mainly on accuracy and ignore balanced performance metrics like recall and F1-score.</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Our model replaces </a:t>
            </a:r>
            <a:r>
              <a:rPr lang="en-US" dirty="0" err="1">
                <a:latin typeface="Times New Roman" panose="02020603050405020304" pitchFamily="18" charset="0"/>
                <a:cs typeface="Times New Roman" panose="02020603050405020304" pitchFamily="18" charset="0"/>
              </a:rPr>
              <a:t>Softmax</a:t>
            </a:r>
            <a:r>
              <a:rPr lang="en-US" dirty="0">
                <a:latin typeface="Times New Roman" panose="02020603050405020304" pitchFamily="18" charset="0"/>
                <a:cs typeface="Times New Roman" panose="02020603050405020304" pitchFamily="18" charset="0"/>
              </a:rPr>
              <a:t> with SVM, providing stronger decision boundaries and better generalization.</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Our hybrid approach (ResNet50 + SVM) improves classification performance compared to single CNN models.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Our model achieves balanced accuracy, precision, recall, and F1-score for reliable healthy vs non-healthy classification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4259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12B73D-600A-2F0F-8FF3-D5E198A37197}"/>
              </a:ext>
            </a:extLst>
          </p:cNvPr>
          <p:cNvSpPr txBox="1"/>
          <p:nvPr/>
        </p:nvSpPr>
        <p:spPr>
          <a:xfrm>
            <a:off x="451104" y="693161"/>
            <a:ext cx="2430965" cy="461665"/>
          </a:xfrm>
          <a:prstGeom prst="rect">
            <a:avLst/>
          </a:prstGeom>
          <a:noFill/>
        </p:spPr>
        <p:txBody>
          <a:bodyPr wrap="square" rtlCol="0">
            <a:spAutoFit/>
          </a:bodyPr>
          <a:lstStyle/>
          <a:p>
            <a:r>
              <a:rPr lang="en-US" sz="2400" dirty="0">
                <a:solidFill>
                  <a:schemeClr val="bg1">
                    <a:lumMod val="50000"/>
                  </a:schemeClr>
                </a:solidFill>
                <a:latin typeface="Times New Roman" panose="02020603050405020304" pitchFamily="18" charset="0"/>
                <a:cs typeface="Times New Roman" panose="02020603050405020304" pitchFamily="18" charset="0"/>
              </a:rPr>
              <a:t>Proposed Model</a:t>
            </a:r>
            <a:endParaRPr lang="en-IN" sz="24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AB610ED-F3CA-D436-09A9-EB1F7A9C538C}"/>
              </a:ext>
            </a:extLst>
          </p:cNvPr>
          <p:cNvSpPr txBox="1"/>
          <p:nvPr/>
        </p:nvSpPr>
        <p:spPr>
          <a:xfrm>
            <a:off x="451104" y="1439711"/>
            <a:ext cx="7644384" cy="263899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proposed model uses a hybrid deep learning–based approach for automated dental disease classification.</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pre-trained CNN architecture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-based feature extractor) is used to extract high-level image features.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Extracted features are optimized using a machine learning classifier for improved prediction performance.</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model achieves improved accuracy, precision, recall, and F1-score compared to existing baseline models.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729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6C761-C55B-E7F1-1828-1CCFC9DBE8FC}"/>
              </a:ext>
            </a:extLst>
          </p:cNvPr>
          <p:cNvSpPr>
            <a:spLocks noGrp="1"/>
          </p:cNvSpPr>
          <p:nvPr>
            <p:ph type="title"/>
          </p:nvPr>
        </p:nvSpPr>
        <p:spPr>
          <a:xfrm>
            <a:off x="2237225" y="545287"/>
            <a:ext cx="4163400" cy="569835"/>
          </a:xfrm>
        </p:spPr>
        <p:txBody>
          <a:bodyPr/>
          <a:lstStyle/>
          <a:p>
            <a:r>
              <a:rPr lang="en-US" sz="2400" dirty="0">
                <a:solidFill>
                  <a:schemeClr val="bg1">
                    <a:lumMod val="50000"/>
                  </a:schemeClr>
                </a:solidFill>
                <a:latin typeface="Times New Roman" panose="02020603050405020304" pitchFamily="18" charset="0"/>
                <a:cs typeface="Times New Roman" panose="02020603050405020304" pitchFamily="18" charset="0"/>
              </a:rPr>
              <a:t>Architecture of ResNet50+SVM</a:t>
            </a:r>
            <a:endParaRPr lang="en-IN" sz="2400" dirty="0">
              <a:solidFill>
                <a:schemeClr val="bg1">
                  <a:lumMod val="50000"/>
                </a:schemeClr>
              </a:solidFill>
              <a:latin typeface="Times New Roman" panose="02020603050405020304" pitchFamily="18" charset="0"/>
              <a:cs typeface="Times New Roman" panose="02020603050405020304" pitchFamily="18" charset="0"/>
            </a:endParaRPr>
          </a:p>
        </p:txBody>
      </p:sp>
      <p:pic>
        <p:nvPicPr>
          <p:cNvPr id="4098" name="Picture 2">
            <a:extLst>
              <a:ext uri="{FF2B5EF4-FFF2-40B4-BE49-F238E27FC236}">
                <a16:creationId xmlns:a16="http://schemas.microsoft.com/office/drawing/2014/main" id="{F57CC67B-9AF8-E241-3D78-BB520C4168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7968" y="-728546"/>
            <a:ext cx="6254496" cy="5637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3622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EF1DE-D5BB-6323-21AF-D743D2B2F216}"/>
              </a:ext>
            </a:extLst>
          </p:cNvPr>
          <p:cNvSpPr>
            <a:spLocks noGrp="1"/>
          </p:cNvSpPr>
          <p:nvPr>
            <p:ph type="title"/>
          </p:nvPr>
        </p:nvSpPr>
        <p:spPr>
          <a:xfrm>
            <a:off x="408600" y="513766"/>
            <a:ext cx="1944456" cy="717626"/>
          </a:xfrm>
        </p:spPr>
        <p:txBody>
          <a:bodyPr/>
          <a:lstStyle/>
          <a:p>
            <a:r>
              <a:rPr lang="en-US" sz="2400" dirty="0">
                <a:solidFill>
                  <a:schemeClr val="bg1">
                    <a:lumMod val="50000"/>
                  </a:schemeClr>
                </a:solidFill>
                <a:latin typeface="Times New Roman" panose="02020603050405020304" pitchFamily="18" charset="0"/>
                <a:cs typeface="Times New Roman" panose="02020603050405020304" pitchFamily="18" charset="0"/>
              </a:rPr>
              <a:t>Dataset used</a:t>
            </a:r>
            <a:endParaRPr lang="en-IN" sz="24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133E68D-699A-C816-CCF6-FF0E93C605BC}"/>
              </a:ext>
            </a:extLst>
          </p:cNvPr>
          <p:cNvSpPr txBox="1"/>
          <p:nvPr/>
        </p:nvSpPr>
        <p:spPr>
          <a:xfrm>
            <a:off x="408600" y="1231392"/>
            <a:ext cx="8096063" cy="3659143"/>
          </a:xfrm>
          <a:prstGeom prst="rect">
            <a:avLst/>
          </a:prstGeom>
          <a:noFill/>
        </p:spPr>
        <p:txBody>
          <a:bodyPr wrap="square" rtlCol="0">
            <a:spAutoFit/>
          </a:bodyPr>
          <a:lstStyle/>
          <a:p>
            <a:pPr marL="285750" indent="-285750">
              <a:lnSpc>
                <a:spcPct val="150000"/>
              </a:lnSpc>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The dataset used in this project is the </a:t>
            </a:r>
            <a:r>
              <a:rPr lang="en-US" sz="1200" b="1" dirty="0">
                <a:latin typeface="Times New Roman" panose="02020603050405020304" pitchFamily="18" charset="0"/>
                <a:cs typeface="Times New Roman" panose="02020603050405020304" pitchFamily="18" charset="0"/>
              </a:rPr>
              <a:t>Dental Object Detection X-Ray Dataset</a:t>
            </a:r>
            <a:r>
              <a:rPr lang="en-US" sz="1200" dirty="0">
                <a:latin typeface="Times New Roman" panose="02020603050405020304" pitchFamily="18" charset="0"/>
                <a:cs typeface="Times New Roman" panose="02020603050405020304" pitchFamily="18" charset="0"/>
              </a:rPr>
              <a:t> obtained from </a:t>
            </a:r>
            <a:r>
              <a:rPr lang="en-US" sz="1200" b="1" dirty="0">
                <a:latin typeface="Times New Roman" panose="02020603050405020304" pitchFamily="18" charset="0"/>
                <a:cs typeface="Times New Roman" panose="02020603050405020304" pitchFamily="18" charset="0"/>
              </a:rPr>
              <a:t>Kaggle</a:t>
            </a:r>
            <a:r>
              <a:rPr lang="en-US" sz="1200" dirty="0">
                <a:latin typeface="Times New Roman" panose="02020603050405020304" pitchFamily="18" charset="0"/>
                <a:cs typeface="Times New Roman" panose="02020603050405020304" pitchFamily="18" charset="0"/>
              </a:rPr>
              <a:t>.</a:t>
            </a:r>
          </a:p>
          <a:p>
            <a:pPr marL="285750" indent="-285750">
              <a:lnSpc>
                <a:spcPct val="150000"/>
              </a:lnSpc>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It contains </a:t>
            </a:r>
            <a:r>
              <a:rPr lang="en-US" sz="1200" b="1" dirty="0">
                <a:latin typeface="Times New Roman" panose="02020603050405020304" pitchFamily="18" charset="0"/>
                <a:cs typeface="Times New Roman" panose="02020603050405020304" pitchFamily="18" charset="0"/>
              </a:rPr>
              <a:t>1,650 labeled panoramic dental X-ray images</a:t>
            </a:r>
            <a:r>
              <a:rPr lang="en-US" sz="1200" dirty="0">
                <a:latin typeface="Times New Roman" panose="02020603050405020304" pitchFamily="18" charset="0"/>
                <a:cs typeface="Times New Roman" panose="02020603050405020304" pitchFamily="18" charset="0"/>
              </a:rPr>
              <a:t>.</a:t>
            </a:r>
          </a:p>
          <a:p>
            <a:pPr marL="285750" indent="-285750">
              <a:lnSpc>
                <a:spcPct val="150000"/>
              </a:lnSpc>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The images are annotated for different dental conditions.</a:t>
            </a:r>
          </a:p>
          <a:p>
            <a:pPr marL="285750" indent="-285750">
              <a:lnSpc>
                <a:spcPct val="150000"/>
              </a:lnSpc>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From the labeled images, individual teeth regions were </a:t>
            </a:r>
            <a:r>
              <a:rPr lang="en-US" sz="1200" b="1" dirty="0">
                <a:latin typeface="Times New Roman" panose="02020603050405020304" pitchFamily="18" charset="0"/>
                <a:cs typeface="Times New Roman" panose="02020603050405020304" pitchFamily="18" charset="0"/>
              </a:rPr>
              <a:t>cropped</a:t>
            </a:r>
          </a:p>
          <a:p>
            <a:pPr marL="285750" indent="-285750">
              <a:lnSpc>
                <a:spcPct val="150000"/>
              </a:lnSpc>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After cropping, we extracted </a:t>
            </a:r>
            <a:r>
              <a:rPr lang="en-US" sz="1200" b="1" dirty="0">
                <a:latin typeface="Times New Roman" panose="02020603050405020304" pitchFamily="18" charset="0"/>
                <a:cs typeface="Times New Roman" panose="02020603050405020304" pitchFamily="18" charset="0"/>
              </a:rPr>
              <a:t>6,937 tooth samples</a:t>
            </a:r>
            <a:r>
              <a:rPr lang="en-US" sz="1200" dirty="0">
                <a:latin typeface="Times New Roman" panose="02020603050405020304" pitchFamily="18" charset="0"/>
                <a:cs typeface="Times New Roman" panose="02020603050405020304" pitchFamily="18" charset="0"/>
              </a:rPr>
              <a:t>.</a:t>
            </a:r>
          </a:p>
          <a:p>
            <a:pPr marL="285750" indent="-285750">
              <a:lnSpc>
                <a:spcPct val="150000"/>
              </a:lnSpc>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This increases the dataset size and improves model training.</a:t>
            </a:r>
          </a:p>
          <a:p>
            <a:pPr marL="285750" indent="-285750">
              <a:lnSpc>
                <a:spcPct val="150000"/>
              </a:lnSpc>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Dataset </a:t>
            </a:r>
            <a:r>
              <a:rPr lang="en-US" sz="1200" dirty="0" err="1">
                <a:latin typeface="Times New Roman" panose="02020603050405020304" pitchFamily="18" charset="0"/>
                <a:cs typeface="Times New Roman" panose="02020603050405020304" pitchFamily="18" charset="0"/>
              </a:rPr>
              <a:t>Splitted</a:t>
            </a:r>
            <a:r>
              <a:rPr lang="en-US" sz="1200" dirty="0">
                <a:latin typeface="Times New Roman" panose="02020603050405020304" pitchFamily="18" charset="0"/>
                <a:cs typeface="Times New Roman" panose="02020603050405020304" pitchFamily="18" charset="0"/>
              </a:rPr>
              <a:t> into  </a:t>
            </a:r>
            <a:r>
              <a:rPr lang="en-US" sz="1200" dirty="0" err="1">
                <a:latin typeface="Times New Roman" panose="02020603050405020304" pitchFamily="18" charset="0"/>
                <a:cs typeface="Times New Roman" panose="02020603050405020304" pitchFamily="18" charset="0"/>
              </a:rPr>
              <a:t>Traing</a:t>
            </a:r>
            <a:r>
              <a:rPr lang="en-US" sz="1200" dirty="0">
                <a:latin typeface="Times New Roman" panose="02020603050405020304" pitchFamily="18" charset="0"/>
                <a:cs typeface="Times New Roman" panose="02020603050405020304" pitchFamily="18" charset="0"/>
              </a:rPr>
              <a:t> and testing Datasets</a:t>
            </a:r>
          </a:p>
          <a:p>
            <a:pPr>
              <a:lnSpc>
                <a:spcPct val="150000"/>
              </a:lnSpc>
            </a:pPr>
            <a:r>
              <a:rPr lang="en-US"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Training Set:</a:t>
            </a:r>
            <a:r>
              <a:rPr lang="en-IN" sz="1200" dirty="0">
                <a:latin typeface="Times New Roman" panose="02020603050405020304" pitchFamily="18" charset="0"/>
                <a:cs typeface="Times New Roman" panose="02020603050405020304" pitchFamily="18" charset="0"/>
              </a:rPr>
              <a:t> 5,474 samples</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Testing Set:</a:t>
            </a:r>
            <a:r>
              <a:rPr lang="en-IN" sz="1200" dirty="0">
                <a:latin typeface="Times New Roman" panose="02020603050405020304" pitchFamily="18" charset="0"/>
                <a:cs typeface="Times New Roman" panose="02020603050405020304" pitchFamily="18" charset="0"/>
              </a:rPr>
              <a:t> 1,463 samples</a:t>
            </a:r>
          </a:p>
          <a:p>
            <a:pPr marL="285750" indent="-285750">
              <a:lnSpc>
                <a:spcPct val="150000"/>
              </a:lnSpc>
              <a:buFont typeface="Courier New" panose="02070309020205020404" pitchFamily="49" charset="0"/>
              <a:buChar char="o"/>
            </a:pPr>
            <a:r>
              <a:rPr lang="en-IN" sz="1200" dirty="0">
                <a:latin typeface="Times New Roman" panose="02020603050405020304" pitchFamily="18" charset="0"/>
                <a:cs typeface="Times New Roman" panose="02020603050405020304" pitchFamily="18" charset="0"/>
              </a:rPr>
              <a:t>Class Distribution</a:t>
            </a:r>
          </a:p>
          <a:p>
            <a:pPr>
              <a:lnSpc>
                <a:spcPct val="150000"/>
              </a:lnSpc>
            </a:pPr>
            <a:r>
              <a:rPr lang="en-IN" sz="1200" dirty="0">
                <a:latin typeface="Times New Roman" panose="02020603050405020304" pitchFamily="18" charset="0"/>
                <a:cs typeface="Times New Roman" panose="02020603050405020304" pitchFamily="18" charset="0"/>
              </a:rPr>
              <a:t>     we Classified the dataset into two classes</a:t>
            </a:r>
          </a:p>
          <a:p>
            <a:pPr>
              <a:lnSpc>
                <a:spcPct val="150000"/>
              </a:lnSpc>
            </a:pPr>
            <a:r>
              <a:rPr lang="en-IN" sz="1200" dirty="0">
                <a:latin typeface="Times New Roman" panose="02020603050405020304" pitchFamily="18" charset="0"/>
                <a:cs typeface="Times New Roman" panose="02020603050405020304" pitchFamily="18" charset="0"/>
              </a:rPr>
              <a:t>     1.Healthy</a:t>
            </a:r>
          </a:p>
          <a:p>
            <a:pPr>
              <a:lnSpc>
                <a:spcPct val="150000"/>
              </a:lnSpc>
            </a:pPr>
            <a:r>
              <a:rPr lang="en-IN" sz="1200" dirty="0">
                <a:latin typeface="Times New Roman" panose="02020603050405020304" pitchFamily="18" charset="0"/>
                <a:cs typeface="Times New Roman" panose="02020603050405020304" pitchFamily="18" charset="0"/>
              </a:rPr>
              <a:t>     2.Non-Healthy(</a:t>
            </a:r>
            <a:r>
              <a:rPr lang="en-IN" sz="1200" dirty="0" err="1">
                <a:latin typeface="Times New Roman" panose="02020603050405020304" pitchFamily="18" charset="0"/>
                <a:cs typeface="Times New Roman" panose="02020603050405020304" pitchFamily="18" charset="0"/>
              </a:rPr>
              <a:t>Cavities,fractured,Impacted</a:t>
            </a:r>
            <a:r>
              <a:rPr lang="en-IN" sz="1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61580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DC6E4-C3C8-2598-67F2-6BF35E6D9DBF}"/>
              </a:ext>
            </a:extLst>
          </p:cNvPr>
          <p:cNvSpPr>
            <a:spLocks noGrp="1"/>
          </p:cNvSpPr>
          <p:nvPr>
            <p:ph type="title"/>
          </p:nvPr>
        </p:nvSpPr>
        <p:spPr>
          <a:xfrm>
            <a:off x="319215" y="418906"/>
            <a:ext cx="2966678" cy="807728"/>
          </a:xfrm>
        </p:spPr>
        <p:txBody>
          <a:bodyPr/>
          <a:lstStyle/>
          <a:p>
            <a:r>
              <a:rPr lang="en-IN" sz="2400" dirty="0">
                <a:solidFill>
                  <a:schemeClr val="bg1">
                    <a:lumMod val="50000"/>
                  </a:schemeClr>
                </a:solidFill>
                <a:latin typeface="Times New Roman" panose="02020603050405020304" pitchFamily="18" charset="0"/>
                <a:cs typeface="Times New Roman" panose="02020603050405020304" pitchFamily="18" charset="0"/>
              </a:rPr>
              <a:t>Methodology</a:t>
            </a:r>
          </a:p>
        </p:txBody>
      </p:sp>
      <p:pic>
        <p:nvPicPr>
          <p:cNvPr id="1026" name="Picture 2">
            <a:extLst>
              <a:ext uri="{FF2B5EF4-FFF2-40B4-BE49-F238E27FC236}">
                <a16:creationId xmlns:a16="http://schemas.microsoft.com/office/drawing/2014/main" id="{852C7BCF-2FDE-E1F3-65F9-423D13FC8A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2684" y="475785"/>
            <a:ext cx="5969618" cy="4467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6348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243C29D-C852-E92A-FDDC-194226E7FF97}"/>
              </a:ext>
            </a:extLst>
          </p:cNvPr>
          <p:cNvSpPr txBox="1"/>
          <p:nvPr/>
        </p:nvSpPr>
        <p:spPr>
          <a:xfrm>
            <a:off x="475488" y="401445"/>
            <a:ext cx="4007004" cy="461665"/>
          </a:xfrm>
          <a:prstGeom prst="rect">
            <a:avLst/>
          </a:prstGeom>
          <a:noFill/>
        </p:spPr>
        <p:txBody>
          <a:bodyPr wrap="square" rtlCol="0">
            <a:spAutoFit/>
          </a:bodyPr>
          <a:lstStyle/>
          <a:p>
            <a:r>
              <a:rPr lang="en-US" sz="2400" dirty="0">
                <a:solidFill>
                  <a:schemeClr val="bg1">
                    <a:lumMod val="50000"/>
                  </a:schemeClr>
                </a:solidFill>
                <a:latin typeface="Times New Roman" panose="02020603050405020304" pitchFamily="18" charset="0"/>
                <a:cs typeface="Times New Roman" panose="02020603050405020304" pitchFamily="18" charset="0"/>
              </a:rPr>
              <a:t>Implementation process</a:t>
            </a:r>
            <a:endParaRPr lang="en-IN" sz="24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130A67A-6707-36AB-55F5-75525448DA45}"/>
              </a:ext>
            </a:extLst>
          </p:cNvPr>
          <p:cNvSpPr txBox="1"/>
          <p:nvPr/>
        </p:nvSpPr>
        <p:spPr>
          <a:xfrm>
            <a:off x="475488" y="1072896"/>
            <a:ext cx="6669024" cy="2314544"/>
          </a:xfrm>
          <a:prstGeom prst="rect">
            <a:avLst/>
          </a:prstGeom>
          <a:noFill/>
        </p:spPr>
        <p:txBody>
          <a:bodyPr wrap="square" rtlCol="0">
            <a:spAutoFit/>
          </a:bodyPr>
          <a:lstStyle/>
          <a:p>
            <a:pPr marL="285750" indent="-285750">
              <a:lnSpc>
                <a:spcPct val="150000"/>
              </a:lnSpc>
              <a:buFont typeface="Courier New" panose="02070309020205020404" pitchFamily="49" charset="0"/>
              <a:buChar char="o"/>
            </a:pPr>
            <a:r>
              <a:rPr lang="en-US" dirty="0"/>
              <a:t>Collected and preprocessed dental images (224×224 resizing).</a:t>
            </a:r>
          </a:p>
          <a:p>
            <a:pPr marL="285750" indent="-285750">
              <a:lnSpc>
                <a:spcPct val="150000"/>
              </a:lnSpc>
              <a:buFont typeface="Courier New" panose="02070309020205020404" pitchFamily="49" charset="0"/>
              <a:buChar char="o"/>
            </a:pPr>
            <a:r>
              <a:rPr lang="en-US" dirty="0"/>
              <a:t>Applied </a:t>
            </a:r>
            <a:r>
              <a:rPr lang="en-US" b="1" dirty="0"/>
              <a:t>ResNet50 </a:t>
            </a:r>
            <a:r>
              <a:rPr lang="en-US" dirty="0"/>
              <a:t> as feature extractor.</a:t>
            </a:r>
          </a:p>
          <a:p>
            <a:pPr marL="285750" indent="-285750">
              <a:lnSpc>
                <a:spcPct val="150000"/>
              </a:lnSpc>
              <a:buFont typeface="Courier New" panose="02070309020205020404" pitchFamily="49" charset="0"/>
              <a:buChar char="o"/>
            </a:pPr>
            <a:r>
              <a:rPr lang="en-US" dirty="0"/>
              <a:t>Extracted 2048-dimensional deep features using Global Average Pooling.</a:t>
            </a:r>
          </a:p>
          <a:p>
            <a:pPr marL="285750" indent="-285750">
              <a:lnSpc>
                <a:spcPct val="150000"/>
              </a:lnSpc>
              <a:buFont typeface="Courier New" panose="02070309020205020404" pitchFamily="49" charset="0"/>
              <a:buChar char="o"/>
            </a:pPr>
            <a:r>
              <a:rPr lang="en-IN" dirty="0"/>
              <a:t>Normalized features using </a:t>
            </a:r>
            <a:r>
              <a:rPr lang="en-IN" dirty="0" err="1"/>
              <a:t>StandardScaler</a:t>
            </a:r>
            <a:r>
              <a:rPr lang="en-IN" dirty="0"/>
              <a:t>.</a:t>
            </a:r>
          </a:p>
          <a:p>
            <a:pPr marL="285750" indent="-285750">
              <a:lnSpc>
                <a:spcPct val="150000"/>
              </a:lnSpc>
              <a:buFont typeface="Courier New" panose="02070309020205020404" pitchFamily="49" charset="0"/>
              <a:buChar char="o"/>
            </a:pPr>
            <a:r>
              <a:rPr lang="en-US" dirty="0"/>
              <a:t>Classified images using </a:t>
            </a:r>
            <a:r>
              <a:rPr lang="en-US" b="1" dirty="0"/>
              <a:t>SVM (RBF kernel)</a:t>
            </a:r>
            <a:r>
              <a:rPr lang="en-US" dirty="0"/>
              <a:t> for final prediction.</a:t>
            </a:r>
          </a:p>
          <a:p>
            <a:pPr marL="285750" indent="-285750">
              <a:lnSpc>
                <a:spcPct val="150000"/>
              </a:lnSpc>
              <a:buFont typeface="Courier New" panose="02070309020205020404" pitchFamily="49" charset="0"/>
              <a:buChar char="o"/>
            </a:pPr>
            <a:r>
              <a:rPr lang="en-US" dirty="0"/>
              <a:t>Evaluated model using Accuracy, Precision, Recall, F1-score, Confusion Matrix &amp; ROC Curve.</a:t>
            </a:r>
            <a:endParaRPr lang="en-IN" dirty="0"/>
          </a:p>
        </p:txBody>
      </p:sp>
    </p:spTree>
    <p:extLst>
      <p:ext uri="{BB962C8B-B14F-4D97-AF65-F5344CB8AC3E}">
        <p14:creationId xmlns:p14="http://schemas.microsoft.com/office/powerpoint/2010/main" val="697999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A1E22-27CF-4234-7673-7BD55EC82984}"/>
              </a:ext>
            </a:extLst>
          </p:cNvPr>
          <p:cNvSpPr>
            <a:spLocks noGrp="1"/>
          </p:cNvSpPr>
          <p:nvPr>
            <p:ph type="title"/>
          </p:nvPr>
        </p:nvSpPr>
        <p:spPr>
          <a:xfrm>
            <a:off x="482767" y="604760"/>
            <a:ext cx="3286345" cy="376547"/>
          </a:xfrm>
        </p:spPr>
        <p:txBody>
          <a:bodyPr/>
          <a:lstStyle/>
          <a:p>
            <a:r>
              <a:rPr lang="en-US" sz="2400" dirty="0">
                <a:solidFill>
                  <a:schemeClr val="bg1">
                    <a:lumMod val="50000"/>
                  </a:schemeClr>
                </a:solidFill>
                <a:latin typeface="Times New Roman" panose="02020603050405020304" pitchFamily="18" charset="0"/>
                <a:cs typeface="Times New Roman" panose="02020603050405020304" pitchFamily="18" charset="0"/>
              </a:rPr>
              <a:t>Comparison models</a:t>
            </a:r>
            <a:endParaRPr lang="en-IN" sz="24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420BA90-15D8-70C3-B8F2-348A00E6D828}"/>
              </a:ext>
            </a:extLst>
          </p:cNvPr>
          <p:cNvSpPr txBox="1"/>
          <p:nvPr/>
        </p:nvSpPr>
        <p:spPr>
          <a:xfrm>
            <a:off x="482767" y="1097280"/>
            <a:ext cx="6369137" cy="38239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following deep learning models were used for comparative analysis:</a:t>
            </a:r>
          </a:p>
          <a:p>
            <a:pPr marL="285750" indent="-285750">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Convolutional Neural Network (CNN):</a:t>
            </a:r>
          </a:p>
          <a:p>
            <a:pPr algn="just">
              <a:lnSpc>
                <a:spcPct val="150000"/>
              </a:lnSpc>
            </a:pPr>
            <a:r>
              <a:rPr lang="en-US" dirty="0">
                <a:latin typeface="Times New Roman" panose="02020603050405020304" pitchFamily="18" charset="0"/>
                <a:cs typeface="Times New Roman" panose="02020603050405020304" pitchFamily="18" charset="0"/>
              </a:rPr>
              <a:t> CNN can automatically extracts image features without manual feature          engineering but it Can overfit and may not capture very deep complex patterns.</a:t>
            </a:r>
          </a:p>
          <a:p>
            <a:pPr marL="285750" indent="-285750">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ResNet50:</a:t>
            </a:r>
          </a:p>
          <a:p>
            <a:pPr algn="just">
              <a:lnSpc>
                <a:spcPct val="150000"/>
              </a:lnSpc>
            </a:pPr>
            <a:r>
              <a:rPr lang="en-US" dirty="0">
                <a:latin typeface="Times New Roman" panose="02020603050405020304" pitchFamily="18" charset="0"/>
                <a:cs typeface="Times New Roman" panose="02020603050405020304" pitchFamily="18" charset="0"/>
              </a:rPr>
              <a:t>       In ResNet50 Residual connections allow deep feature extraction without            vanishing </a:t>
            </a:r>
            <a:r>
              <a:rPr lang="en-US" dirty="0" err="1">
                <a:latin typeface="Times New Roman" panose="02020603050405020304" pitchFamily="18" charset="0"/>
                <a:cs typeface="Times New Roman" panose="02020603050405020304" pitchFamily="18" charset="0"/>
              </a:rPr>
              <a:t>gradient.but</a:t>
            </a:r>
            <a:r>
              <a:rPr lang="en-US" dirty="0">
                <a:latin typeface="Times New Roman" panose="02020603050405020304" pitchFamily="18" charset="0"/>
                <a:cs typeface="Times New Roman" panose="02020603050405020304" pitchFamily="18" charset="0"/>
              </a:rPr>
              <a:t> Computationally heavy and still relies on </a:t>
            </a:r>
          </a:p>
          <a:p>
            <a:pPr algn="just">
              <a:lnSpc>
                <a:spcPct val="150000"/>
              </a:lnSpc>
            </a:pPr>
            <a:r>
              <a:rPr lang="en-US" dirty="0" err="1">
                <a:latin typeface="Times New Roman" panose="02020603050405020304" pitchFamily="18" charset="0"/>
                <a:cs typeface="Times New Roman" panose="02020603050405020304" pitchFamily="18" charset="0"/>
              </a:rPr>
              <a:t>Softmax</a:t>
            </a:r>
            <a:r>
              <a:rPr lang="en-US" dirty="0">
                <a:latin typeface="Times New Roman" panose="02020603050405020304" pitchFamily="18" charset="0"/>
                <a:cs typeface="Times New Roman" panose="02020603050405020304" pitchFamily="18" charset="0"/>
              </a:rPr>
              <a:t> for final classification.</a:t>
            </a:r>
          </a:p>
          <a:p>
            <a:pPr marL="285750" indent="-285750">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ResNet101:</a:t>
            </a:r>
          </a:p>
          <a:p>
            <a:pPr algn="just">
              <a:lnSpc>
                <a:spcPct val="150000"/>
              </a:lnSpc>
            </a:pPr>
            <a:r>
              <a:rPr lang="en-US" dirty="0">
                <a:latin typeface="Times New Roman" panose="02020603050405020304" pitchFamily="18" charset="0"/>
                <a:cs typeface="Times New Roman" panose="02020603050405020304" pitchFamily="18" charset="0"/>
              </a:rPr>
              <a:t>    In ResNet101 Deeper network captures more complex image features but     Very high training time and increased risk of overfitting.</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6114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33DEF3B-CC24-C271-CEC8-F9848164358F}"/>
              </a:ext>
            </a:extLst>
          </p:cNvPr>
          <p:cNvSpPr txBox="1"/>
          <p:nvPr/>
        </p:nvSpPr>
        <p:spPr>
          <a:xfrm>
            <a:off x="341376" y="431327"/>
            <a:ext cx="9144000" cy="3539430"/>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VGG16:</a:t>
            </a:r>
          </a:p>
          <a:p>
            <a:pPr>
              <a:lnSpc>
                <a:spcPct val="150000"/>
              </a:lnSpc>
            </a:pPr>
            <a:r>
              <a:rPr lang="en-US" dirty="0">
                <a:latin typeface="Times New Roman" panose="02020603050405020304" pitchFamily="18" charset="0"/>
                <a:cs typeface="Times New Roman" panose="02020603050405020304" pitchFamily="18" charset="0"/>
              </a:rPr>
              <a:t>     Simple and effective architecture for transfer learning. But Large number of parameters and</a:t>
            </a:r>
          </a:p>
          <a:p>
            <a:pPr>
              <a:lnSpc>
                <a:spcPct val="150000"/>
              </a:lnSpc>
            </a:pPr>
            <a:r>
              <a:rPr lang="en-US" dirty="0">
                <a:latin typeface="Times New Roman" panose="02020603050405020304" pitchFamily="18" charset="0"/>
                <a:cs typeface="Times New Roman" panose="02020603050405020304" pitchFamily="18" charset="0"/>
              </a:rPr>
              <a:t>     high memory  usage.</a:t>
            </a:r>
          </a:p>
          <a:p>
            <a:pPr marL="285750" indent="-285750">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DenseNet121</a:t>
            </a:r>
          </a:p>
          <a:p>
            <a:pPr>
              <a:lnSpc>
                <a:spcPct val="150000"/>
              </a:lnSpc>
            </a:pPr>
            <a:r>
              <a:rPr lang="en-US" dirty="0">
                <a:latin typeface="Times New Roman" panose="02020603050405020304" pitchFamily="18" charset="0"/>
                <a:cs typeface="Times New Roman" panose="02020603050405020304" pitchFamily="18" charset="0"/>
              </a:rPr>
              <a:t>      Reuses features efficiently through dense connections. But  Complex architecture with higher </a:t>
            </a:r>
          </a:p>
          <a:p>
            <a:pPr>
              <a:lnSpc>
                <a:spcPct val="150000"/>
              </a:lnSpc>
            </a:pPr>
            <a:r>
              <a:rPr lang="en-US" dirty="0">
                <a:latin typeface="Times New Roman" panose="02020603050405020304" pitchFamily="18" charset="0"/>
                <a:cs typeface="Times New Roman" panose="02020603050405020304" pitchFamily="18" charset="0"/>
              </a:rPr>
              <a:t>       computational cost.</a:t>
            </a:r>
          </a:p>
          <a:p>
            <a:pPr marL="28575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Proposed Model (ResNet50 + SVM)</a:t>
            </a:r>
          </a:p>
          <a:p>
            <a:pPr>
              <a:lnSpc>
                <a:spcPct val="150000"/>
              </a:lnSpc>
            </a:pP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Uses ResNet50 to extract powerful deep features, Replaces </a:t>
            </a:r>
            <a:r>
              <a:rPr lang="en-US" dirty="0" err="1">
                <a:latin typeface="Times New Roman" panose="02020603050405020304" pitchFamily="18" charset="0"/>
                <a:cs typeface="Times New Roman" panose="02020603050405020304" pitchFamily="18" charset="0"/>
              </a:rPr>
              <a:t>Softmax</a:t>
            </a:r>
            <a:r>
              <a:rPr lang="en-US" dirty="0">
                <a:latin typeface="Times New Roman" panose="02020603050405020304" pitchFamily="18" charset="0"/>
                <a:cs typeface="Times New Roman" panose="02020603050405020304" pitchFamily="18" charset="0"/>
              </a:rPr>
              <a:t> with SVM, which creates a </a:t>
            </a:r>
          </a:p>
          <a:p>
            <a:pPr>
              <a:lnSpc>
                <a:spcPct val="150000"/>
              </a:lnSpc>
            </a:pPr>
            <a:r>
              <a:rPr lang="en-US" dirty="0">
                <a:latin typeface="Times New Roman" panose="02020603050405020304" pitchFamily="18" charset="0"/>
                <a:cs typeface="Times New Roman" panose="02020603050405020304" pitchFamily="18" charset="0"/>
              </a:rPr>
              <a:t>      stronger decision boundary , Reduces overfitting compared to deep-only models. And Provides </a:t>
            </a:r>
          </a:p>
          <a:p>
            <a:pPr>
              <a:lnSpc>
                <a:spcPct val="150000"/>
              </a:lnSpc>
            </a:pPr>
            <a:r>
              <a:rPr lang="en-US" dirty="0">
                <a:latin typeface="Times New Roman" panose="02020603050405020304" pitchFamily="18" charset="0"/>
                <a:cs typeface="Times New Roman" panose="02020603050405020304" pitchFamily="18" charset="0"/>
              </a:rPr>
              <a:t>      better generalization for Healthy vs Non-Healthy classification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6018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1307-9B4F-DBCE-7884-6523609BF6AF}"/>
              </a:ext>
            </a:extLst>
          </p:cNvPr>
          <p:cNvSpPr>
            <a:spLocks noGrp="1"/>
          </p:cNvSpPr>
          <p:nvPr>
            <p:ph type="title"/>
          </p:nvPr>
        </p:nvSpPr>
        <p:spPr>
          <a:xfrm>
            <a:off x="335272" y="-475488"/>
            <a:ext cx="7187191" cy="2878606"/>
          </a:xfrm>
        </p:spPr>
        <p:txBody>
          <a:bodyPr/>
          <a:lstStyle/>
          <a:p>
            <a:r>
              <a:rPr lang="en-US" sz="2400" b="1" dirty="0">
                <a:solidFill>
                  <a:schemeClr val="bg1">
                    <a:lumMod val="50000"/>
                  </a:schemeClr>
                </a:solidFill>
                <a:latin typeface="Times New Roman" panose="02020603050405020304" pitchFamily="18" charset="0"/>
                <a:cs typeface="Times New Roman" panose="02020603050405020304" pitchFamily="18" charset="0"/>
              </a:rPr>
              <a:t>Metrics of comparison models</a:t>
            </a:r>
            <a:br>
              <a:rPr lang="en-US" sz="2400" dirty="0">
                <a:solidFill>
                  <a:schemeClr val="bg1">
                    <a:lumMod val="50000"/>
                  </a:schemeClr>
                </a:solidFill>
                <a:latin typeface="Times New Roman" panose="02020603050405020304" pitchFamily="18" charset="0"/>
                <a:cs typeface="Times New Roman" panose="02020603050405020304" pitchFamily="18" charset="0"/>
              </a:rPr>
            </a:br>
            <a:endParaRPr lang="en-IN" sz="2400" dirty="0">
              <a:solidFill>
                <a:schemeClr val="bg1">
                  <a:lumMod val="50000"/>
                </a:schemeClr>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B84C2AC6-3A5B-D1D6-52F3-9A649254DEEF}"/>
              </a:ext>
            </a:extLst>
          </p:cNvPr>
          <p:cNvGraphicFramePr>
            <a:graphicFrameLocks noGrp="1"/>
          </p:cNvGraphicFramePr>
          <p:nvPr>
            <p:extLst>
              <p:ext uri="{D42A27DB-BD31-4B8C-83A1-F6EECF244321}">
                <p14:modId xmlns:p14="http://schemas.microsoft.com/office/powerpoint/2010/main" val="1105232969"/>
              </p:ext>
            </p:extLst>
          </p:nvPr>
        </p:nvGraphicFramePr>
        <p:xfrm>
          <a:off x="750848" y="1409049"/>
          <a:ext cx="7564096" cy="2504585"/>
        </p:xfrm>
        <a:graphic>
          <a:graphicData uri="http://schemas.openxmlformats.org/drawingml/2006/table">
            <a:tbl>
              <a:tblPr firstRow="1" firstCol="1" bandRow="1">
                <a:tableStyleId>{D40C76F9-63FB-43B9-9354-44C5E24EED4A}</a:tableStyleId>
              </a:tblPr>
              <a:tblGrid>
                <a:gridCol w="869576">
                  <a:extLst>
                    <a:ext uri="{9D8B030D-6E8A-4147-A177-3AD203B41FA5}">
                      <a16:colId xmlns:a16="http://schemas.microsoft.com/office/drawing/2014/main" val="697270831"/>
                    </a:ext>
                  </a:extLst>
                </a:gridCol>
                <a:gridCol w="986867">
                  <a:extLst>
                    <a:ext uri="{9D8B030D-6E8A-4147-A177-3AD203B41FA5}">
                      <a16:colId xmlns:a16="http://schemas.microsoft.com/office/drawing/2014/main" val="2890146687"/>
                    </a:ext>
                  </a:extLst>
                </a:gridCol>
                <a:gridCol w="892226">
                  <a:extLst>
                    <a:ext uri="{9D8B030D-6E8A-4147-A177-3AD203B41FA5}">
                      <a16:colId xmlns:a16="http://schemas.microsoft.com/office/drawing/2014/main" val="1647606002"/>
                    </a:ext>
                  </a:extLst>
                </a:gridCol>
                <a:gridCol w="986867">
                  <a:extLst>
                    <a:ext uri="{9D8B030D-6E8A-4147-A177-3AD203B41FA5}">
                      <a16:colId xmlns:a16="http://schemas.microsoft.com/office/drawing/2014/main" val="3457307182"/>
                    </a:ext>
                  </a:extLst>
                </a:gridCol>
                <a:gridCol w="1006281">
                  <a:extLst>
                    <a:ext uri="{9D8B030D-6E8A-4147-A177-3AD203B41FA5}">
                      <a16:colId xmlns:a16="http://schemas.microsoft.com/office/drawing/2014/main" val="1084734052"/>
                    </a:ext>
                  </a:extLst>
                </a:gridCol>
                <a:gridCol w="1232669">
                  <a:extLst>
                    <a:ext uri="{9D8B030D-6E8A-4147-A177-3AD203B41FA5}">
                      <a16:colId xmlns:a16="http://schemas.microsoft.com/office/drawing/2014/main" val="4075673093"/>
                    </a:ext>
                  </a:extLst>
                </a:gridCol>
                <a:gridCol w="1589610">
                  <a:extLst>
                    <a:ext uri="{9D8B030D-6E8A-4147-A177-3AD203B41FA5}">
                      <a16:colId xmlns:a16="http://schemas.microsoft.com/office/drawing/2014/main" val="2356149892"/>
                    </a:ext>
                  </a:extLst>
                </a:gridCol>
              </a:tblGrid>
              <a:tr h="500917">
                <a:tc>
                  <a:txBody>
                    <a:bodyPr/>
                    <a:lstStyle/>
                    <a:p>
                      <a:pPr algn="l">
                        <a:lnSpc>
                          <a:spcPct val="115000"/>
                        </a:lnSpc>
                        <a:spcAft>
                          <a:spcPts val="800"/>
                        </a:spcAft>
                        <a:buNone/>
                      </a:pPr>
                      <a:r>
                        <a:rPr lang="en-US" sz="1200" kern="100" dirty="0">
                          <a:effectLst/>
                        </a:rPr>
                        <a:t>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CNN</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VGG16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dirty="0">
                          <a:effectLst/>
                        </a:rPr>
                        <a:t>ResNet50</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dirty="0">
                          <a:effectLst/>
                        </a:rPr>
                        <a:t>ResNet101</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DenseNet121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Resnet50+SVM</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87553729"/>
                  </a:ext>
                </a:extLst>
              </a:tr>
              <a:tr h="500917">
                <a:tc>
                  <a:txBody>
                    <a:bodyPr/>
                    <a:lstStyle/>
                    <a:p>
                      <a:pPr algn="l">
                        <a:lnSpc>
                          <a:spcPct val="115000"/>
                        </a:lnSpc>
                        <a:spcAft>
                          <a:spcPts val="800"/>
                        </a:spcAft>
                        <a:buNone/>
                      </a:pPr>
                      <a:r>
                        <a:rPr lang="en-US" sz="1200" kern="100">
                          <a:effectLst/>
                        </a:rPr>
                        <a:t>Accuracy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dirty="0">
                          <a:effectLst/>
                        </a:rPr>
                        <a:t>0.796308</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dirty="0">
                          <a:effectLst/>
                        </a:rPr>
                        <a:t>0.79289</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0.830485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0.821599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0.773069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dirty="0">
                          <a:effectLst/>
                        </a:rPr>
                        <a:t>85.85%</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1893128"/>
                  </a:ext>
                </a:extLst>
              </a:tr>
              <a:tr h="500917">
                <a:tc>
                  <a:txBody>
                    <a:bodyPr/>
                    <a:lstStyle/>
                    <a:p>
                      <a:pPr algn="l">
                        <a:lnSpc>
                          <a:spcPct val="115000"/>
                        </a:lnSpc>
                        <a:spcAft>
                          <a:spcPts val="800"/>
                        </a:spcAft>
                        <a:buNone/>
                      </a:pPr>
                      <a:r>
                        <a:rPr lang="en-US" sz="1200" kern="100">
                          <a:effectLst/>
                        </a:rPr>
                        <a:t>precision</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dirty="0">
                          <a:effectLst/>
                        </a:rPr>
                        <a:t>0.774271</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dirty="0">
                          <a:effectLst/>
                        </a:rPr>
                        <a:t>0.77902</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dirty="0">
                          <a:effectLst/>
                        </a:rPr>
                        <a:t>0.827676</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0.817945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0.806451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dirty="0">
                          <a:effectLst/>
                        </a:rPr>
                        <a:t>85.87%</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5358323"/>
                  </a:ext>
                </a:extLst>
              </a:tr>
              <a:tr h="500917">
                <a:tc>
                  <a:txBody>
                    <a:bodyPr/>
                    <a:lstStyle/>
                    <a:p>
                      <a:pPr algn="l">
                        <a:lnSpc>
                          <a:spcPct val="115000"/>
                        </a:lnSpc>
                        <a:spcAft>
                          <a:spcPts val="800"/>
                        </a:spcAft>
                        <a:buNone/>
                      </a:pPr>
                      <a:r>
                        <a:rPr lang="en-US" sz="1200" kern="100">
                          <a:effectLst/>
                        </a:rPr>
                        <a:t>Recall</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dirty="0">
                          <a:effectLst/>
                        </a:rPr>
                        <a:t>0.850666</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0.83222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0.845333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0.838666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0.733333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85.81%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48999506"/>
                  </a:ext>
                </a:extLst>
              </a:tr>
              <a:tr h="500917">
                <a:tc>
                  <a:txBody>
                    <a:bodyPr/>
                    <a:lstStyle/>
                    <a:p>
                      <a:pPr algn="l">
                        <a:lnSpc>
                          <a:spcPct val="115000"/>
                        </a:lnSpc>
                        <a:spcAft>
                          <a:spcPts val="800"/>
                        </a:spcAft>
                        <a:buNone/>
                      </a:pPr>
                      <a:r>
                        <a:rPr lang="en-US" sz="1200" kern="100" dirty="0">
                          <a:effectLst/>
                        </a:rPr>
                        <a:t>F1-Score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0.810673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0.80464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0.836411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0.828276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a:effectLst/>
                        </a:rPr>
                        <a:t>0.768156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800"/>
                        </a:spcAft>
                        <a:buNone/>
                      </a:pPr>
                      <a:r>
                        <a:rPr lang="en-US" sz="1200" kern="100" dirty="0">
                          <a:effectLst/>
                        </a:rPr>
                        <a:t>85.83%</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05339784"/>
                  </a:ext>
                </a:extLst>
              </a:tr>
            </a:tbl>
          </a:graphicData>
        </a:graphic>
      </p:graphicFrame>
    </p:spTree>
    <p:extLst>
      <p:ext uri="{BB962C8B-B14F-4D97-AF65-F5344CB8AC3E}">
        <p14:creationId xmlns:p14="http://schemas.microsoft.com/office/powerpoint/2010/main" val="1412441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F08A8-5F10-6232-2C45-4BAAF92C7DEA}"/>
              </a:ext>
            </a:extLst>
          </p:cNvPr>
          <p:cNvSpPr>
            <a:spLocks noGrp="1"/>
          </p:cNvSpPr>
          <p:nvPr>
            <p:ph type="title"/>
          </p:nvPr>
        </p:nvSpPr>
        <p:spPr>
          <a:xfrm>
            <a:off x="549674" y="567589"/>
            <a:ext cx="1182482" cy="406284"/>
          </a:xfrm>
        </p:spPr>
        <p:txBody>
          <a:bodyPr/>
          <a:lstStyle/>
          <a:p>
            <a:r>
              <a:rPr lang="en-US" sz="2400" dirty="0">
                <a:solidFill>
                  <a:schemeClr val="bg1">
                    <a:lumMod val="50000"/>
                  </a:schemeClr>
                </a:solidFill>
                <a:latin typeface="Times New Roman" panose="02020603050405020304" pitchFamily="18" charset="0"/>
                <a:cs typeface="Times New Roman" panose="02020603050405020304" pitchFamily="18" charset="0"/>
              </a:rPr>
              <a:t>Results</a:t>
            </a:r>
            <a:endParaRPr lang="en-IN" sz="2400" dirty="0">
              <a:solidFill>
                <a:schemeClr val="bg1">
                  <a:lumMod val="50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41139CF-EBEC-4C8B-A62D-98FF8039CDB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02790"/>
            <a:ext cx="3834384" cy="3373120"/>
          </a:xfrm>
          <a:prstGeom prst="rect">
            <a:avLst/>
          </a:prstGeom>
          <a:noFill/>
          <a:ln>
            <a:noFill/>
          </a:ln>
        </p:spPr>
      </p:pic>
      <p:pic>
        <p:nvPicPr>
          <p:cNvPr id="4" name="Picture 3">
            <a:extLst>
              <a:ext uri="{FF2B5EF4-FFF2-40B4-BE49-F238E27FC236}">
                <a16:creationId xmlns:a16="http://schemas.microsoft.com/office/drawing/2014/main" id="{377CCA17-06C1-820A-36CC-3432D9BF687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202789"/>
            <a:ext cx="3566160" cy="3373121"/>
          </a:xfrm>
          <a:prstGeom prst="rect">
            <a:avLst/>
          </a:prstGeom>
          <a:noFill/>
          <a:ln>
            <a:noFill/>
          </a:ln>
        </p:spPr>
      </p:pic>
    </p:spTree>
    <p:extLst>
      <p:ext uri="{BB962C8B-B14F-4D97-AF65-F5344CB8AC3E}">
        <p14:creationId xmlns:p14="http://schemas.microsoft.com/office/powerpoint/2010/main" val="1725889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5C46A1-F0AA-EBCC-21E2-F442D8EC608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5749" y="490220"/>
            <a:ext cx="3707067" cy="3789172"/>
          </a:xfrm>
          <a:prstGeom prst="rect">
            <a:avLst/>
          </a:prstGeom>
          <a:noFill/>
          <a:ln>
            <a:noFill/>
          </a:ln>
        </p:spPr>
      </p:pic>
      <p:pic>
        <p:nvPicPr>
          <p:cNvPr id="5" name="Picture 4">
            <a:extLst>
              <a:ext uri="{FF2B5EF4-FFF2-40B4-BE49-F238E27FC236}">
                <a16:creationId xmlns:a16="http://schemas.microsoft.com/office/drawing/2014/main" id="{BCA7D3F4-F0DB-1554-9176-441FC854950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47992" y="587756"/>
            <a:ext cx="4427912" cy="3557524"/>
          </a:xfrm>
          <a:prstGeom prst="rect">
            <a:avLst/>
          </a:prstGeom>
          <a:noFill/>
          <a:ln>
            <a:noFill/>
          </a:ln>
        </p:spPr>
      </p:pic>
    </p:spTree>
    <p:extLst>
      <p:ext uri="{BB962C8B-B14F-4D97-AF65-F5344CB8AC3E}">
        <p14:creationId xmlns:p14="http://schemas.microsoft.com/office/powerpoint/2010/main" val="3499486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9EB74-9B54-B074-480F-C534E1F64AFA}"/>
              </a:ext>
            </a:extLst>
          </p:cNvPr>
          <p:cNvSpPr>
            <a:spLocks noGrp="1"/>
          </p:cNvSpPr>
          <p:nvPr>
            <p:ph type="title"/>
          </p:nvPr>
        </p:nvSpPr>
        <p:spPr>
          <a:xfrm>
            <a:off x="527371" y="641930"/>
            <a:ext cx="2684180" cy="450889"/>
          </a:xfrm>
        </p:spPr>
        <p:txBody>
          <a:bodyPr/>
          <a:lstStyle/>
          <a:p>
            <a:r>
              <a:rPr lang="en-US" sz="2400" dirty="0">
                <a:solidFill>
                  <a:schemeClr val="bg1">
                    <a:lumMod val="50000"/>
                  </a:schemeClr>
                </a:solidFill>
                <a:latin typeface="Times New Roman" panose="02020603050405020304" pitchFamily="18" charset="0"/>
                <a:cs typeface="Times New Roman" panose="02020603050405020304" pitchFamily="18" charset="0"/>
              </a:rPr>
              <a:t>Requirements</a:t>
            </a:r>
            <a:endParaRPr lang="en-IN" sz="24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EEF583B-CCE2-D327-D66F-12F92A59B1A5}"/>
              </a:ext>
            </a:extLst>
          </p:cNvPr>
          <p:cNvSpPr txBox="1"/>
          <p:nvPr/>
        </p:nvSpPr>
        <p:spPr>
          <a:xfrm>
            <a:off x="527371" y="1243584"/>
            <a:ext cx="3593525" cy="2962158"/>
          </a:xfrm>
          <a:custGeom>
            <a:avLst/>
            <a:gdLst>
              <a:gd name="csX0" fmla="*/ 0 w 3593525"/>
              <a:gd name="csY0" fmla="*/ 0 h 2962158"/>
              <a:gd name="csX1" fmla="*/ 634856 w 3593525"/>
              <a:gd name="csY1" fmla="*/ 0 h 2962158"/>
              <a:gd name="csX2" fmla="*/ 1197842 w 3593525"/>
              <a:gd name="csY2" fmla="*/ 0 h 2962158"/>
              <a:gd name="csX3" fmla="*/ 1868633 w 3593525"/>
              <a:gd name="csY3" fmla="*/ 0 h 2962158"/>
              <a:gd name="csX4" fmla="*/ 2359748 w 3593525"/>
              <a:gd name="csY4" fmla="*/ 0 h 2962158"/>
              <a:gd name="csX5" fmla="*/ 2958669 w 3593525"/>
              <a:gd name="csY5" fmla="*/ 0 h 2962158"/>
              <a:gd name="csX6" fmla="*/ 3593525 w 3593525"/>
              <a:gd name="csY6" fmla="*/ 0 h 2962158"/>
              <a:gd name="csX7" fmla="*/ 3593525 w 3593525"/>
              <a:gd name="csY7" fmla="*/ 562810 h 2962158"/>
              <a:gd name="csX8" fmla="*/ 3593525 w 3593525"/>
              <a:gd name="csY8" fmla="*/ 1184863 h 2962158"/>
              <a:gd name="csX9" fmla="*/ 3593525 w 3593525"/>
              <a:gd name="csY9" fmla="*/ 1836538 h 2962158"/>
              <a:gd name="csX10" fmla="*/ 3593525 w 3593525"/>
              <a:gd name="csY10" fmla="*/ 2369726 h 2962158"/>
              <a:gd name="csX11" fmla="*/ 3593525 w 3593525"/>
              <a:gd name="csY11" fmla="*/ 2962158 h 2962158"/>
              <a:gd name="csX12" fmla="*/ 3102410 w 3593525"/>
              <a:gd name="csY12" fmla="*/ 2962158 h 2962158"/>
              <a:gd name="csX13" fmla="*/ 2503489 w 3593525"/>
              <a:gd name="csY13" fmla="*/ 2962158 h 2962158"/>
              <a:gd name="csX14" fmla="*/ 2012374 w 3593525"/>
              <a:gd name="csY14" fmla="*/ 2962158 h 2962158"/>
              <a:gd name="csX15" fmla="*/ 1449388 w 3593525"/>
              <a:gd name="csY15" fmla="*/ 2962158 h 2962158"/>
              <a:gd name="csX16" fmla="*/ 886403 w 3593525"/>
              <a:gd name="csY16" fmla="*/ 2962158 h 2962158"/>
              <a:gd name="csX17" fmla="*/ 0 w 3593525"/>
              <a:gd name="csY17" fmla="*/ 2962158 h 2962158"/>
              <a:gd name="csX18" fmla="*/ 0 w 3593525"/>
              <a:gd name="csY18" fmla="*/ 2428970 h 2962158"/>
              <a:gd name="csX19" fmla="*/ 0 w 3593525"/>
              <a:gd name="csY19" fmla="*/ 1866160 h 2962158"/>
              <a:gd name="csX20" fmla="*/ 0 w 3593525"/>
              <a:gd name="csY20" fmla="*/ 1303350 h 2962158"/>
              <a:gd name="csX21" fmla="*/ 0 w 3593525"/>
              <a:gd name="csY21" fmla="*/ 681296 h 2962158"/>
              <a:gd name="csX22" fmla="*/ 0 w 3593525"/>
              <a:gd name="csY22" fmla="*/ 0 h 29621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593525" h="2962158" extrusionOk="0">
                <a:moveTo>
                  <a:pt x="0" y="0"/>
                </a:moveTo>
                <a:cubicBezTo>
                  <a:pt x="225842" y="-5676"/>
                  <a:pt x="487491" y="-260"/>
                  <a:pt x="634856" y="0"/>
                </a:cubicBezTo>
                <a:cubicBezTo>
                  <a:pt x="782221" y="260"/>
                  <a:pt x="1055665" y="-23942"/>
                  <a:pt x="1197842" y="0"/>
                </a:cubicBezTo>
                <a:cubicBezTo>
                  <a:pt x="1340019" y="23942"/>
                  <a:pt x="1541042" y="19023"/>
                  <a:pt x="1868633" y="0"/>
                </a:cubicBezTo>
                <a:cubicBezTo>
                  <a:pt x="2196224" y="-19023"/>
                  <a:pt x="2233710" y="23565"/>
                  <a:pt x="2359748" y="0"/>
                </a:cubicBezTo>
                <a:cubicBezTo>
                  <a:pt x="2485787" y="-23565"/>
                  <a:pt x="2706042" y="7219"/>
                  <a:pt x="2958669" y="0"/>
                </a:cubicBezTo>
                <a:cubicBezTo>
                  <a:pt x="3211296" y="-7219"/>
                  <a:pt x="3303210" y="17349"/>
                  <a:pt x="3593525" y="0"/>
                </a:cubicBezTo>
                <a:cubicBezTo>
                  <a:pt x="3588949" y="198107"/>
                  <a:pt x="3573887" y="330600"/>
                  <a:pt x="3593525" y="562810"/>
                </a:cubicBezTo>
                <a:cubicBezTo>
                  <a:pt x="3613164" y="795020"/>
                  <a:pt x="3609625" y="990654"/>
                  <a:pt x="3593525" y="1184863"/>
                </a:cubicBezTo>
                <a:cubicBezTo>
                  <a:pt x="3577425" y="1379072"/>
                  <a:pt x="3581437" y="1684005"/>
                  <a:pt x="3593525" y="1836538"/>
                </a:cubicBezTo>
                <a:cubicBezTo>
                  <a:pt x="3605613" y="1989072"/>
                  <a:pt x="3585831" y="2239552"/>
                  <a:pt x="3593525" y="2369726"/>
                </a:cubicBezTo>
                <a:cubicBezTo>
                  <a:pt x="3601219" y="2499900"/>
                  <a:pt x="3593072" y="2839069"/>
                  <a:pt x="3593525" y="2962158"/>
                </a:cubicBezTo>
                <a:cubicBezTo>
                  <a:pt x="3419169" y="2959504"/>
                  <a:pt x="3285629" y="2950828"/>
                  <a:pt x="3102410" y="2962158"/>
                </a:cubicBezTo>
                <a:cubicBezTo>
                  <a:pt x="2919191" y="2973488"/>
                  <a:pt x="2687604" y="2935349"/>
                  <a:pt x="2503489" y="2962158"/>
                </a:cubicBezTo>
                <a:cubicBezTo>
                  <a:pt x="2319374" y="2988967"/>
                  <a:pt x="2194248" y="2966501"/>
                  <a:pt x="2012374" y="2962158"/>
                </a:cubicBezTo>
                <a:cubicBezTo>
                  <a:pt x="1830501" y="2957815"/>
                  <a:pt x="1616401" y="2938244"/>
                  <a:pt x="1449388" y="2962158"/>
                </a:cubicBezTo>
                <a:cubicBezTo>
                  <a:pt x="1282375" y="2986072"/>
                  <a:pt x="1119725" y="2977792"/>
                  <a:pt x="886403" y="2962158"/>
                </a:cubicBezTo>
                <a:cubicBezTo>
                  <a:pt x="653081" y="2946524"/>
                  <a:pt x="295200" y="2989506"/>
                  <a:pt x="0" y="2962158"/>
                </a:cubicBezTo>
                <a:cubicBezTo>
                  <a:pt x="-14809" y="2739663"/>
                  <a:pt x="7000" y="2607876"/>
                  <a:pt x="0" y="2428970"/>
                </a:cubicBezTo>
                <a:cubicBezTo>
                  <a:pt x="-7000" y="2250064"/>
                  <a:pt x="-13636" y="2013369"/>
                  <a:pt x="0" y="1866160"/>
                </a:cubicBezTo>
                <a:cubicBezTo>
                  <a:pt x="13636" y="1718951"/>
                  <a:pt x="13709" y="1445752"/>
                  <a:pt x="0" y="1303350"/>
                </a:cubicBezTo>
                <a:cubicBezTo>
                  <a:pt x="-13709" y="1160948"/>
                  <a:pt x="335" y="911747"/>
                  <a:pt x="0" y="681296"/>
                </a:cubicBezTo>
                <a:cubicBezTo>
                  <a:pt x="-335" y="450845"/>
                  <a:pt x="29270" y="325409"/>
                  <a:pt x="0" y="0"/>
                </a:cubicBezTo>
                <a:close/>
              </a:path>
            </a:pathLst>
          </a:custGeom>
          <a:noFill/>
          <a:ln>
            <a:solidFill>
              <a:schemeClr val="tx1"/>
            </a:solidFill>
            <a:extLst>
              <a:ext uri="{C807C97D-BFC1-408E-A445-0C87EB9F89A2}">
                <ask:lineSketchStyleProps xmlns:ask="http://schemas.microsoft.com/office/drawing/2018/sketchyshapes" sd="1363887920">
                  <a:prstGeom prst="rect">
                    <a:avLst/>
                  </a:prstGeom>
                  <ask:type>
                    <ask:lineSketchFreehand/>
                  </ask:type>
                </ask:lineSketchStyleProps>
              </a:ext>
            </a:extLst>
          </a:ln>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Hardware Requirements</a:t>
            </a:r>
          </a:p>
          <a:p>
            <a:pPr>
              <a:lnSpc>
                <a:spcPct val="150000"/>
              </a:lnSpc>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Processor: Intel i5 or above</a:t>
            </a:r>
          </a:p>
          <a:p>
            <a:pPr>
              <a:lnSpc>
                <a:spcPct val="150000"/>
              </a:lnSpc>
            </a:pPr>
            <a:r>
              <a:rPr lang="en-US" dirty="0">
                <a:latin typeface="Times New Roman" panose="02020603050405020304" pitchFamily="18" charset="0"/>
                <a:cs typeface="Times New Roman" panose="02020603050405020304" pitchFamily="18" charset="0"/>
              </a:rPr>
              <a:t> •RAM: Minimum 8 GB (16 GB recommended)</a:t>
            </a:r>
          </a:p>
          <a:p>
            <a:pPr>
              <a:lnSpc>
                <a:spcPct val="150000"/>
              </a:lnSpc>
            </a:pPr>
            <a:r>
              <a:rPr lang="en-US" dirty="0">
                <a:latin typeface="Times New Roman" panose="02020603050405020304" pitchFamily="18" charset="0"/>
                <a:cs typeface="Times New Roman" panose="02020603050405020304" pitchFamily="18" charset="0"/>
              </a:rPr>
              <a:t> •Storage: At least 20 GB free space</a:t>
            </a:r>
          </a:p>
          <a:p>
            <a:pPr>
              <a:lnSpc>
                <a:spcPct val="150000"/>
              </a:lnSpc>
            </a:pPr>
            <a:r>
              <a:rPr lang="en-US" dirty="0">
                <a:latin typeface="Times New Roman" panose="02020603050405020304" pitchFamily="18" charset="0"/>
                <a:cs typeface="Times New Roman" panose="02020603050405020304" pitchFamily="18" charset="0"/>
              </a:rPr>
              <a:t> •GPU: T4 GPU </a:t>
            </a:r>
          </a:p>
          <a:p>
            <a:pPr>
              <a:lnSpc>
                <a:spcPct val="150000"/>
              </a:lnSpc>
            </a:pPr>
            <a:r>
              <a:rPr lang="en-US" dirty="0">
                <a:latin typeface="Times New Roman" panose="02020603050405020304" pitchFamily="18" charset="0"/>
                <a:cs typeface="Times New Roman" panose="02020603050405020304" pitchFamily="18" charset="0"/>
              </a:rPr>
              <a:t> •Internet: Required for Google </a:t>
            </a:r>
            <a:r>
              <a:rPr lang="en-US" dirty="0" err="1">
                <a:latin typeface="Times New Roman" panose="02020603050405020304" pitchFamily="18" charset="0"/>
                <a:cs typeface="Times New Roman" panose="02020603050405020304" pitchFamily="18" charset="0"/>
              </a:rPr>
              <a:t>Colab</a:t>
            </a:r>
            <a:r>
              <a:rPr lang="en-US" dirty="0">
                <a:latin typeface="Times New Roman" panose="02020603050405020304" pitchFamily="18" charset="0"/>
                <a:cs typeface="Times New Roman" panose="02020603050405020304" pitchFamily="18" charset="0"/>
              </a:rPr>
              <a:t> or          downloading libraries</a:t>
            </a:r>
          </a:p>
          <a:p>
            <a:pPr>
              <a:lnSpc>
                <a:spcPct val="150000"/>
              </a:lnSpc>
            </a:pPr>
            <a:r>
              <a:rPr lang="en-US" dirty="0">
                <a:latin typeface="Times New Roman" panose="02020603050405020304" pitchFamily="18" charset="0"/>
                <a:cs typeface="Times New Roman" panose="02020603050405020304" pitchFamily="18" charset="0"/>
              </a:rPr>
              <a:t> •System: Laptop or desktop computer </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973F85E-4D64-6EB1-7F6B-098E796D6C3D}"/>
              </a:ext>
            </a:extLst>
          </p:cNvPr>
          <p:cNvSpPr txBox="1"/>
          <p:nvPr/>
        </p:nvSpPr>
        <p:spPr>
          <a:xfrm>
            <a:off x="4791457" y="1243584"/>
            <a:ext cx="3401567" cy="2962158"/>
          </a:xfrm>
          <a:custGeom>
            <a:avLst/>
            <a:gdLst>
              <a:gd name="csX0" fmla="*/ 0 w 3401567"/>
              <a:gd name="csY0" fmla="*/ 0 h 2962158"/>
              <a:gd name="csX1" fmla="*/ 612282 w 3401567"/>
              <a:gd name="csY1" fmla="*/ 0 h 2962158"/>
              <a:gd name="csX2" fmla="*/ 1360627 w 3401567"/>
              <a:gd name="csY2" fmla="*/ 0 h 2962158"/>
              <a:gd name="csX3" fmla="*/ 2074956 w 3401567"/>
              <a:gd name="csY3" fmla="*/ 0 h 2962158"/>
              <a:gd name="csX4" fmla="*/ 2653222 w 3401567"/>
              <a:gd name="csY4" fmla="*/ 0 h 2962158"/>
              <a:gd name="csX5" fmla="*/ 3401567 w 3401567"/>
              <a:gd name="csY5" fmla="*/ 0 h 2962158"/>
              <a:gd name="csX6" fmla="*/ 3401567 w 3401567"/>
              <a:gd name="csY6" fmla="*/ 592432 h 2962158"/>
              <a:gd name="csX7" fmla="*/ 3401567 w 3401567"/>
              <a:gd name="csY7" fmla="*/ 1244106 h 2962158"/>
              <a:gd name="csX8" fmla="*/ 3401567 w 3401567"/>
              <a:gd name="csY8" fmla="*/ 1747673 h 2962158"/>
              <a:gd name="csX9" fmla="*/ 3401567 w 3401567"/>
              <a:gd name="csY9" fmla="*/ 2310483 h 2962158"/>
              <a:gd name="csX10" fmla="*/ 3401567 w 3401567"/>
              <a:gd name="csY10" fmla="*/ 2962158 h 2962158"/>
              <a:gd name="csX11" fmla="*/ 2823301 w 3401567"/>
              <a:gd name="csY11" fmla="*/ 2962158 h 2962158"/>
              <a:gd name="csX12" fmla="*/ 2074956 w 3401567"/>
              <a:gd name="csY12" fmla="*/ 2962158 h 2962158"/>
              <a:gd name="csX13" fmla="*/ 1428658 w 3401567"/>
              <a:gd name="csY13" fmla="*/ 2962158 h 2962158"/>
              <a:gd name="csX14" fmla="*/ 816376 w 3401567"/>
              <a:gd name="csY14" fmla="*/ 2962158 h 2962158"/>
              <a:gd name="csX15" fmla="*/ 0 w 3401567"/>
              <a:gd name="csY15" fmla="*/ 2962158 h 2962158"/>
              <a:gd name="csX16" fmla="*/ 0 w 3401567"/>
              <a:gd name="csY16" fmla="*/ 2369726 h 2962158"/>
              <a:gd name="csX17" fmla="*/ 0 w 3401567"/>
              <a:gd name="csY17" fmla="*/ 1806916 h 2962158"/>
              <a:gd name="csX18" fmla="*/ 0 w 3401567"/>
              <a:gd name="csY18" fmla="*/ 1214485 h 2962158"/>
              <a:gd name="csX19" fmla="*/ 0 w 3401567"/>
              <a:gd name="csY19" fmla="*/ 562810 h 2962158"/>
              <a:gd name="csX20" fmla="*/ 0 w 3401567"/>
              <a:gd name="csY20" fmla="*/ 0 h 29621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401567" h="2962158" extrusionOk="0">
                <a:moveTo>
                  <a:pt x="0" y="0"/>
                </a:moveTo>
                <a:cubicBezTo>
                  <a:pt x="169755" y="2884"/>
                  <a:pt x="465113" y="13375"/>
                  <a:pt x="612282" y="0"/>
                </a:cubicBezTo>
                <a:cubicBezTo>
                  <a:pt x="759451" y="-13375"/>
                  <a:pt x="1014877" y="-35202"/>
                  <a:pt x="1360627" y="0"/>
                </a:cubicBezTo>
                <a:cubicBezTo>
                  <a:pt x="1706377" y="35202"/>
                  <a:pt x="1885525" y="20986"/>
                  <a:pt x="2074956" y="0"/>
                </a:cubicBezTo>
                <a:cubicBezTo>
                  <a:pt x="2264387" y="-20986"/>
                  <a:pt x="2524038" y="-1249"/>
                  <a:pt x="2653222" y="0"/>
                </a:cubicBezTo>
                <a:cubicBezTo>
                  <a:pt x="2782406" y="1249"/>
                  <a:pt x="3043864" y="32264"/>
                  <a:pt x="3401567" y="0"/>
                </a:cubicBezTo>
                <a:cubicBezTo>
                  <a:pt x="3380060" y="171594"/>
                  <a:pt x="3397690" y="302452"/>
                  <a:pt x="3401567" y="592432"/>
                </a:cubicBezTo>
                <a:cubicBezTo>
                  <a:pt x="3405444" y="882412"/>
                  <a:pt x="3377548" y="1090221"/>
                  <a:pt x="3401567" y="1244106"/>
                </a:cubicBezTo>
                <a:cubicBezTo>
                  <a:pt x="3425586" y="1397991"/>
                  <a:pt x="3418885" y="1526974"/>
                  <a:pt x="3401567" y="1747673"/>
                </a:cubicBezTo>
                <a:cubicBezTo>
                  <a:pt x="3384249" y="1968372"/>
                  <a:pt x="3389175" y="2146409"/>
                  <a:pt x="3401567" y="2310483"/>
                </a:cubicBezTo>
                <a:cubicBezTo>
                  <a:pt x="3413960" y="2474557"/>
                  <a:pt x="3426247" y="2816643"/>
                  <a:pt x="3401567" y="2962158"/>
                </a:cubicBezTo>
                <a:cubicBezTo>
                  <a:pt x="3225595" y="2973723"/>
                  <a:pt x="2943010" y="2947027"/>
                  <a:pt x="2823301" y="2962158"/>
                </a:cubicBezTo>
                <a:cubicBezTo>
                  <a:pt x="2703592" y="2977289"/>
                  <a:pt x="2340410" y="2945832"/>
                  <a:pt x="2074956" y="2962158"/>
                </a:cubicBezTo>
                <a:cubicBezTo>
                  <a:pt x="1809502" y="2978484"/>
                  <a:pt x="1682345" y="2967789"/>
                  <a:pt x="1428658" y="2962158"/>
                </a:cubicBezTo>
                <a:cubicBezTo>
                  <a:pt x="1174971" y="2956527"/>
                  <a:pt x="988088" y="2992497"/>
                  <a:pt x="816376" y="2962158"/>
                </a:cubicBezTo>
                <a:cubicBezTo>
                  <a:pt x="644664" y="2931819"/>
                  <a:pt x="355464" y="2928807"/>
                  <a:pt x="0" y="2962158"/>
                </a:cubicBezTo>
                <a:cubicBezTo>
                  <a:pt x="19215" y="2708506"/>
                  <a:pt x="8306" y="2640241"/>
                  <a:pt x="0" y="2369726"/>
                </a:cubicBezTo>
                <a:cubicBezTo>
                  <a:pt x="-8306" y="2099211"/>
                  <a:pt x="-8667" y="2042383"/>
                  <a:pt x="0" y="1806916"/>
                </a:cubicBezTo>
                <a:cubicBezTo>
                  <a:pt x="8667" y="1571449"/>
                  <a:pt x="-23618" y="1394159"/>
                  <a:pt x="0" y="1214485"/>
                </a:cubicBezTo>
                <a:cubicBezTo>
                  <a:pt x="23618" y="1034811"/>
                  <a:pt x="26241" y="747956"/>
                  <a:pt x="0" y="562810"/>
                </a:cubicBezTo>
                <a:cubicBezTo>
                  <a:pt x="-26241" y="377665"/>
                  <a:pt x="7823" y="215124"/>
                  <a:pt x="0" y="0"/>
                </a:cubicBezTo>
                <a:close/>
              </a:path>
            </a:pathLst>
          </a:custGeom>
          <a:noFill/>
          <a:ln>
            <a:solidFill>
              <a:schemeClr val="tx1"/>
            </a:solidFill>
            <a:extLst>
              <a:ext uri="{C807C97D-BFC1-408E-A445-0C87EB9F89A2}">
                <ask:lineSketchStyleProps xmlns:ask="http://schemas.microsoft.com/office/drawing/2018/sketchyshapes" sd="3689820584">
                  <a:prstGeom prst="rect">
                    <a:avLst/>
                  </a:prstGeom>
                  <ask:type>
                    <ask:lineSketchFreehand/>
                  </ask:type>
                </ask:lineSketchStyleProps>
              </a:ext>
            </a:extLst>
          </a:ln>
        </p:spPr>
        <p:txBody>
          <a:bodyPr wrap="square" rtlCol="0">
            <a:spAutoFit/>
          </a:bodyPr>
          <a:lstStyle/>
          <a:p>
            <a:pPr>
              <a:lnSpc>
                <a:spcPct val="150000"/>
              </a:lnSpc>
            </a:pPr>
            <a:r>
              <a:rPr lang="en-IN" b="1" dirty="0">
                <a:latin typeface="Times New Roman" panose="02020603050405020304" pitchFamily="18" charset="0"/>
                <a:cs typeface="Times New Roman" panose="02020603050405020304" pitchFamily="18" charset="0"/>
              </a:rPr>
              <a:t>Software Requirements</a:t>
            </a:r>
          </a:p>
          <a:p>
            <a:pPr>
              <a:lnSpc>
                <a:spcPct val="150000"/>
              </a:lnSpc>
            </a:pPr>
            <a:r>
              <a:rPr lang="en-IN" dirty="0">
                <a:latin typeface="Times New Roman" panose="02020603050405020304" pitchFamily="18" charset="0"/>
                <a:cs typeface="Times New Roman" panose="02020603050405020304" pitchFamily="18" charset="0"/>
              </a:rPr>
              <a:t>•Operating System: Windows</a:t>
            </a:r>
          </a:p>
          <a:p>
            <a:pPr>
              <a:lnSpc>
                <a:spcPct val="150000"/>
              </a:lnSpc>
            </a:pPr>
            <a:r>
              <a:rPr lang="en-IN" dirty="0">
                <a:latin typeface="Times New Roman" panose="02020603050405020304" pitchFamily="18" charset="0"/>
                <a:cs typeface="Times New Roman" panose="02020603050405020304" pitchFamily="18" charset="0"/>
              </a:rPr>
              <a:t>•Programming Language: Python</a:t>
            </a:r>
          </a:p>
          <a:p>
            <a:pPr>
              <a:lnSpc>
                <a:spcPct val="150000"/>
              </a:lnSpc>
            </a:pPr>
            <a:r>
              <a:rPr lang="en-IN" dirty="0">
                <a:latin typeface="Times New Roman" panose="02020603050405020304" pitchFamily="18" charset="0"/>
                <a:cs typeface="Times New Roman" panose="02020603050405020304" pitchFamily="18" charset="0"/>
              </a:rPr>
              <a:t>•Platform: Google </a:t>
            </a:r>
            <a:r>
              <a:rPr lang="en-IN" dirty="0" err="1">
                <a:latin typeface="Times New Roman" panose="02020603050405020304" pitchFamily="18" charset="0"/>
                <a:cs typeface="Times New Roman" panose="02020603050405020304" pitchFamily="18" charset="0"/>
              </a:rPr>
              <a:t>Colab</a:t>
            </a:r>
            <a:r>
              <a:rPr lang="en-IN" dirty="0">
                <a:latin typeface="Times New Roman" panose="02020603050405020304" pitchFamily="18" charset="0"/>
                <a:cs typeface="Times New Roman" panose="02020603050405020304" pitchFamily="18" charset="0"/>
              </a:rPr>
              <a:t> </a:t>
            </a:r>
          </a:p>
          <a:p>
            <a:pPr>
              <a:lnSpc>
                <a:spcPct val="150000"/>
              </a:lnSpc>
            </a:pPr>
            <a:r>
              <a:rPr lang="en-IN" dirty="0">
                <a:latin typeface="Times New Roman" panose="02020603050405020304" pitchFamily="18" charset="0"/>
                <a:cs typeface="Times New Roman" panose="02020603050405020304" pitchFamily="18" charset="0"/>
              </a:rPr>
              <a:t>•Deep Learning Libraries: TensorFlow, </a:t>
            </a:r>
            <a:r>
              <a:rPr lang="en-IN" dirty="0" err="1">
                <a:latin typeface="Times New Roman" panose="02020603050405020304" pitchFamily="18" charset="0"/>
                <a:cs typeface="Times New Roman" panose="02020603050405020304" pitchFamily="18" charset="0"/>
              </a:rPr>
              <a:t>Keras</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•Machine Learning Library: Scikit-learn</a:t>
            </a:r>
          </a:p>
          <a:p>
            <a:pPr>
              <a:lnSpc>
                <a:spcPct val="150000"/>
              </a:lnSpc>
            </a:pPr>
            <a:r>
              <a:rPr lang="en-IN" dirty="0">
                <a:latin typeface="Times New Roman" panose="02020603050405020304" pitchFamily="18" charset="0"/>
                <a:cs typeface="Times New Roman" panose="02020603050405020304" pitchFamily="18" charset="0"/>
              </a:rPr>
              <a:t>•Data Processing Libraries: NumPy, Pandas</a:t>
            </a:r>
          </a:p>
          <a:p>
            <a:pPr>
              <a:lnSpc>
                <a:spcPct val="150000"/>
              </a:lnSpc>
            </a:pPr>
            <a:r>
              <a:rPr lang="en-IN" dirty="0">
                <a:latin typeface="Times New Roman" panose="02020603050405020304" pitchFamily="18" charset="0"/>
                <a:cs typeface="Times New Roman" panose="02020603050405020304" pitchFamily="18" charset="0"/>
              </a:rPr>
              <a:t>•Visualization Libraries: Matplotlib, Seaborn</a:t>
            </a:r>
          </a:p>
        </p:txBody>
      </p:sp>
    </p:spTree>
    <p:extLst>
      <p:ext uri="{BB962C8B-B14F-4D97-AF65-F5344CB8AC3E}">
        <p14:creationId xmlns:p14="http://schemas.microsoft.com/office/powerpoint/2010/main" val="2287425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BD9CC-5970-3148-CE40-3CD9BA0C850C}"/>
              </a:ext>
            </a:extLst>
          </p:cNvPr>
          <p:cNvSpPr>
            <a:spLocks noGrp="1"/>
          </p:cNvSpPr>
          <p:nvPr>
            <p:ph type="title"/>
          </p:nvPr>
        </p:nvSpPr>
        <p:spPr>
          <a:xfrm>
            <a:off x="356385" y="404038"/>
            <a:ext cx="1873858" cy="607006"/>
          </a:xfrm>
        </p:spPr>
        <p:txBody>
          <a:bodyPr/>
          <a:lstStyle/>
          <a:p>
            <a:r>
              <a:rPr lang="en-US" sz="2400" dirty="0">
                <a:solidFill>
                  <a:schemeClr val="bg1">
                    <a:lumMod val="50000"/>
                  </a:schemeClr>
                </a:solidFill>
                <a:latin typeface="Times New Roman" panose="02020603050405020304" pitchFamily="18" charset="0"/>
                <a:cs typeface="Times New Roman" panose="02020603050405020304" pitchFamily="18" charset="0"/>
              </a:rPr>
              <a:t>Future Scope</a:t>
            </a:r>
            <a:endParaRPr lang="en-IN" sz="24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A3B3E95-7700-7DA6-AC44-6F523694BCA3}"/>
              </a:ext>
            </a:extLst>
          </p:cNvPr>
          <p:cNvSpPr txBox="1"/>
          <p:nvPr/>
        </p:nvSpPr>
        <p:spPr>
          <a:xfrm>
            <a:off x="356385" y="1158240"/>
            <a:ext cx="6891908" cy="199137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Increase dataset size to improve model accuracy and generalization.</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Extend the model to multi-class classification (caries, fracture, impacted, etc.).</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Deploy the system as a web or mobile application for real-time use</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Implement real-time dental X-ray analysis in clinics.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Improve performance using ensemble learning techniques.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Expand to detect additional oral diseases like periodontitis and gum infections.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0324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A08D9-92D4-EE5D-5B18-E49A0307AE18}"/>
              </a:ext>
            </a:extLst>
          </p:cNvPr>
          <p:cNvSpPr>
            <a:spLocks noGrp="1"/>
          </p:cNvSpPr>
          <p:nvPr>
            <p:ph type="title"/>
          </p:nvPr>
        </p:nvSpPr>
        <p:spPr>
          <a:xfrm>
            <a:off x="3396952" y="604760"/>
            <a:ext cx="1680570" cy="636742"/>
          </a:xfrm>
        </p:spPr>
        <p:txBody>
          <a:bodyPr/>
          <a:lstStyle/>
          <a:p>
            <a:r>
              <a:rPr lang="en-US" sz="2400" dirty="0">
                <a:solidFill>
                  <a:schemeClr val="bg1">
                    <a:lumMod val="50000"/>
                  </a:schemeClr>
                </a:solidFill>
                <a:latin typeface="Times New Roman" panose="02020603050405020304" pitchFamily="18" charset="0"/>
                <a:cs typeface="Times New Roman" panose="02020603050405020304" pitchFamily="18" charset="0"/>
              </a:rPr>
              <a:t>Conclusion</a:t>
            </a:r>
            <a:endParaRPr lang="en-IN" sz="24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CDC60D4-8A47-3540-B883-957D7A70093A}"/>
              </a:ext>
            </a:extLst>
          </p:cNvPr>
          <p:cNvSpPr txBox="1"/>
          <p:nvPr/>
        </p:nvSpPr>
        <p:spPr>
          <a:xfrm>
            <a:off x="719328" y="1487424"/>
            <a:ext cx="7363968" cy="1992661"/>
          </a:xfrm>
          <a:custGeom>
            <a:avLst/>
            <a:gdLst>
              <a:gd name="csX0" fmla="*/ 0 w 7363968"/>
              <a:gd name="csY0" fmla="*/ 0 h 1992661"/>
              <a:gd name="csX1" fmla="*/ 743091 w 7363968"/>
              <a:gd name="csY1" fmla="*/ 0 h 1992661"/>
              <a:gd name="csX2" fmla="*/ 1191624 w 7363968"/>
              <a:gd name="csY2" fmla="*/ 0 h 1992661"/>
              <a:gd name="csX3" fmla="*/ 1713796 w 7363968"/>
              <a:gd name="csY3" fmla="*/ 0 h 1992661"/>
              <a:gd name="csX4" fmla="*/ 2235968 w 7363968"/>
              <a:gd name="csY4" fmla="*/ 0 h 1992661"/>
              <a:gd name="csX5" fmla="*/ 2831780 w 7363968"/>
              <a:gd name="csY5" fmla="*/ 0 h 1992661"/>
              <a:gd name="csX6" fmla="*/ 3353953 w 7363968"/>
              <a:gd name="csY6" fmla="*/ 0 h 1992661"/>
              <a:gd name="csX7" fmla="*/ 4023404 w 7363968"/>
              <a:gd name="csY7" fmla="*/ 0 h 1992661"/>
              <a:gd name="csX8" fmla="*/ 4692856 w 7363968"/>
              <a:gd name="csY8" fmla="*/ 0 h 1992661"/>
              <a:gd name="csX9" fmla="*/ 5288668 w 7363968"/>
              <a:gd name="csY9" fmla="*/ 0 h 1992661"/>
              <a:gd name="csX10" fmla="*/ 5737201 w 7363968"/>
              <a:gd name="csY10" fmla="*/ 0 h 1992661"/>
              <a:gd name="csX11" fmla="*/ 6406652 w 7363968"/>
              <a:gd name="csY11" fmla="*/ 0 h 1992661"/>
              <a:gd name="csX12" fmla="*/ 7363968 w 7363968"/>
              <a:gd name="csY12" fmla="*/ 0 h 1992661"/>
              <a:gd name="csX13" fmla="*/ 7363968 w 7363968"/>
              <a:gd name="csY13" fmla="*/ 684147 h 1992661"/>
              <a:gd name="csX14" fmla="*/ 7363968 w 7363968"/>
              <a:gd name="csY14" fmla="*/ 1348367 h 1992661"/>
              <a:gd name="csX15" fmla="*/ 7363968 w 7363968"/>
              <a:gd name="csY15" fmla="*/ 1992661 h 1992661"/>
              <a:gd name="csX16" fmla="*/ 6768156 w 7363968"/>
              <a:gd name="csY16" fmla="*/ 1992661 h 1992661"/>
              <a:gd name="csX17" fmla="*/ 6319623 w 7363968"/>
              <a:gd name="csY17" fmla="*/ 1992661 h 1992661"/>
              <a:gd name="csX18" fmla="*/ 5797451 w 7363968"/>
              <a:gd name="csY18" fmla="*/ 1992661 h 1992661"/>
              <a:gd name="csX19" fmla="*/ 5054360 w 7363968"/>
              <a:gd name="csY19" fmla="*/ 1992661 h 1992661"/>
              <a:gd name="csX20" fmla="*/ 4458548 w 7363968"/>
              <a:gd name="csY20" fmla="*/ 1992661 h 1992661"/>
              <a:gd name="csX21" fmla="*/ 3862736 w 7363968"/>
              <a:gd name="csY21" fmla="*/ 1992661 h 1992661"/>
              <a:gd name="csX22" fmla="*/ 3119645 w 7363968"/>
              <a:gd name="csY22" fmla="*/ 1992661 h 1992661"/>
              <a:gd name="csX23" fmla="*/ 2597472 w 7363968"/>
              <a:gd name="csY23" fmla="*/ 1992661 h 1992661"/>
              <a:gd name="csX24" fmla="*/ 1854381 w 7363968"/>
              <a:gd name="csY24" fmla="*/ 1992661 h 1992661"/>
              <a:gd name="csX25" fmla="*/ 1258569 w 7363968"/>
              <a:gd name="csY25" fmla="*/ 1992661 h 1992661"/>
              <a:gd name="csX26" fmla="*/ 0 w 7363968"/>
              <a:gd name="csY26" fmla="*/ 1992661 h 1992661"/>
              <a:gd name="csX27" fmla="*/ 0 w 7363968"/>
              <a:gd name="csY27" fmla="*/ 1328441 h 1992661"/>
              <a:gd name="csX28" fmla="*/ 0 w 7363968"/>
              <a:gd name="csY28" fmla="*/ 664220 h 1992661"/>
              <a:gd name="csX29" fmla="*/ 0 w 7363968"/>
              <a:gd name="csY29" fmla="*/ 0 h 1992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7363968" h="1992661" extrusionOk="0">
                <a:moveTo>
                  <a:pt x="0" y="0"/>
                </a:moveTo>
                <a:cubicBezTo>
                  <a:pt x="184568" y="-37041"/>
                  <a:pt x="392287" y="29121"/>
                  <a:pt x="743091" y="0"/>
                </a:cubicBezTo>
                <a:cubicBezTo>
                  <a:pt x="1093895" y="-29121"/>
                  <a:pt x="1039233" y="-1950"/>
                  <a:pt x="1191624" y="0"/>
                </a:cubicBezTo>
                <a:cubicBezTo>
                  <a:pt x="1344015" y="1950"/>
                  <a:pt x="1459076" y="16583"/>
                  <a:pt x="1713796" y="0"/>
                </a:cubicBezTo>
                <a:cubicBezTo>
                  <a:pt x="1968516" y="-16583"/>
                  <a:pt x="2003231" y="-7063"/>
                  <a:pt x="2235968" y="0"/>
                </a:cubicBezTo>
                <a:cubicBezTo>
                  <a:pt x="2468705" y="7063"/>
                  <a:pt x="2635788" y="-20854"/>
                  <a:pt x="2831780" y="0"/>
                </a:cubicBezTo>
                <a:cubicBezTo>
                  <a:pt x="3027772" y="20854"/>
                  <a:pt x="3108465" y="17624"/>
                  <a:pt x="3353953" y="0"/>
                </a:cubicBezTo>
                <a:cubicBezTo>
                  <a:pt x="3599441" y="-17624"/>
                  <a:pt x="3835699" y="3904"/>
                  <a:pt x="4023404" y="0"/>
                </a:cubicBezTo>
                <a:cubicBezTo>
                  <a:pt x="4211109" y="-3904"/>
                  <a:pt x="4408566" y="14051"/>
                  <a:pt x="4692856" y="0"/>
                </a:cubicBezTo>
                <a:cubicBezTo>
                  <a:pt x="4977146" y="-14051"/>
                  <a:pt x="5139301" y="-24685"/>
                  <a:pt x="5288668" y="0"/>
                </a:cubicBezTo>
                <a:cubicBezTo>
                  <a:pt x="5438035" y="24685"/>
                  <a:pt x="5624182" y="-3473"/>
                  <a:pt x="5737201" y="0"/>
                </a:cubicBezTo>
                <a:cubicBezTo>
                  <a:pt x="5850220" y="3473"/>
                  <a:pt x="6091433" y="5464"/>
                  <a:pt x="6406652" y="0"/>
                </a:cubicBezTo>
                <a:cubicBezTo>
                  <a:pt x="6721871" y="-5464"/>
                  <a:pt x="6938708" y="-37830"/>
                  <a:pt x="7363968" y="0"/>
                </a:cubicBezTo>
                <a:cubicBezTo>
                  <a:pt x="7332506" y="220641"/>
                  <a:pt x="7373205" y="489238"/>
                  <a:pt x="7363968" y="684147"/>
                </a:cubicBezTo>
                <a:cubicBezTo>
                  <a:pt x="7354731" y="879056"/>
                  <a:pt x="7344514" y="1127187"/>
                  <a:pt x="7363968" y="1348367"/>
                </a:cubicBezTo>
                <a:cubicBezTo>
                  <a:pt x="7383422" y="1569547"/>
                  <a:pt x="7336135" y="1714301"/>
                  <a:pt x="7363968" y="1992661"/>
                </a:cubicBezTo>
                <a:cubicBezTo>
                  <a:pt x="7211924" y="2007742"/>
                  <a:pt x="6896545" y="1972330"/>
                  <a:pt x="6768156" y="1992661"/>
                </a:cubicBezTo>
                <a:cubicBezTo>
                  <a:pt x="6639767" y="2012992"/>
                  <a:pt x="6512257" y="1988941"/>
                  <a:pt x="6319623" y="1992661"/>
                </a:cubicBezTo>
                <a:cubicBezTo>
                  <a:pt x="6126989" y="1996381"/>
                  <a:pt x="6047001" y="1981622"/>
                  <a:pt x="5797451" y="1992661"/>
                </a:cubicBezTo>
                <a:cubicBezTo>
                  <a:pt x="5547901" y="2003700"/>
                  <a:pt x="5203308" y="2026108"/>
                  <a:pt x="5054360" y="1992661"/>
                </a:cubicBezTo>
                <a:cubicBezTo>
                  <a:pt x="4905412" y="1959214"/>
                  <a:pt x="4720460" y="1976421"/>
                  <a:pt x="4458548" y="1992661"/>
                </a:cubicBezTo>
                <a:cubicBezTo>
                  <a:pt x="4196636" y="2008901"/>
                  <a:pt x="4061814" y="1992137"/>
                  <a:pt x="3862736" y="1992661"/>
                </a:cubicBezTo>
                <a:cubicBezTo>
                  <a:pt x="3663658" y="1993185"/>
                  <a:pt x="3437402" y="1956424"/>
                  <a:pt x="3119645" y="1992661"/>
                </a:cubicBezTo>
                <a:cubicBezTo>
                  <a:pt x="2801888" y="2028898"/>
                  <a:pt x="2789458" y="2018075"/>
                  <a:pt x="2597472" y="1992661"/>
                </a:cubicBezTo>
                <a:cubicBezTo>
                  <a:pt x="2405486" y="1967247"/>
                  <a:pt x="2149083" y="2021291"/>
                  <a:pt x="1854381" y="1992661"/>
                </a:cubicBezTo>
                <a:cubicBezTo>
                  <a:pt x="1559679" y="1964031"/>
                  <a:pt x="1383520" y="2017219"/>
                  <a:pt x="1258569" y="1992661"/>
                </a:cubicBezTo>
                <a:cubicBezTo>
                  <a:pt x="1133618" y="1968103"/>
                  <a:pt x="583825" y="1997512"/>
                  <a:pt x="0" y="1992661"/>
                </a:cubicBezTo>
                <a:cubicBezTo>
                  <a:pt x="5918" y="1666199"/>
                  <a:pt x="-32042" y="1546018"/>
                  <a:pt x="0" y="1328441"/>
                </a:cubicBezTo>
                <a:cubicBezTo>
                  <a:pt x="32042" y="1110864"/>
                  <a:pt x="-31498" y="904935"/>
                  <a:pt x="0" y="664220"/>
                </a:cubicBezTo>
                <a:cubicBezTo>
                  <a:pt x="31498" y="423505"/>
                  <a:pt x="23521" y="316748"/>
                  <a:pt x="0" y="0"/>
                </a:cubicBezTo>
                <a:close/>
              </a:path>
            </a:pathLst>
          </a:custGeom>
          <a:noFill/>
          <a:ln>
            <a:solidFill>
              <a:schemeClr val="tx1"/>
            </a:solidFill>
            <a:extLst>
              <a:ext uri="{C807C97D-BFC1-408E-A445-0C87EB9F89A2}">
                <ask:lineSketchStyleProps xmlns:ask="http://schemas.microsoft.com/office/drawing/2018/sketchyshapes" sd="120962598">
                  <a:prstGeom prst="rect">
                    <a:avLst/>
                  </a:prstGeom>
                  <ask:type>
                    <ask:lineSketchFreehand/>
                  </ask:type>
                </ask:lineSketchStyleProps>
              </a:ext>
            </a:extLst>
          </a:ln>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This project uses deep learning to automatically detect dental health from dental X-ray images. We used a pre-trained ResNet50 model to extract important features from the images, and then used an SVM classifier to make the final prediction. The model achieved good accuracy, precision, recall, and F1-score, showing that the method works well. When compared with other models, our approach gave reliable and stable results. Overall, this system shows that our proposed model can help dentists by giving faster, more accurate, and consistent diagnosis.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184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extLst>
              <a:ext uri="{BEBA8EAE-BF5A-486C-A8C5-ECC9F3942E4B}">
                <a14:imgProps xmlns:a14="http://schemas.microsoft.com/office/drawing/2010/main">
                  <a14:imgLayer r:embed="rId3">
                    <a14:imgEffect>
                      <a14:colorTemperature colorTemp="1500"/>
                    </a14:imgEffect>
                    <a14:imgEffect>
                      <a14:saturation sat="0"/>
                    </a14:imgEffect>
                  </a14:imgLayer>
                </a14:imgProps>
              </a:ext>
            </a:extLst>
          </a:blip>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983631-0FDF-ADC7-BA6F-B6A177415F16}"/>
              </a:ext>
            </a:extLst>
          </p:cNvPr>
          <p:cNvSpPr txBox="1"/>
          <p:nvPr/>
        </p:nvSpPr>
        <p:spPr>
          <a:xfrm>
            <a:off x="694944" y="1524000"/>
            <a:ext cx="7668471" cy="1569660"/>
          </a:xfrm>
          <a:prstGeom prst="rect">
            <a:avLst/>
          </a:prstGeom>
          <a:noFill/>
        </p:spPr>
        <p:txBody>
          <a:bodyPr wrap="square" rtlCol="0">
            <a:spAutoFit/>
          </a:bodyPr>
          <a:lstStyle/>
          <a:p>
            <a:r>
              <a:rPr lang="en-US" sz="9600" dirty="0">
                <a:solidFill>
                  <a:schemeClr val="tx2">
                    <a:lumMod val="25000"/>
                  </a:schemeClr>
                </a:solidFill>
                <a:latin typeface="Times New Roman" panose="02020603050405020304" pitchFamily="18" charset="0"/>
                <a:cs typeface="Times New Roman" panose="02020603050405020304" pitchFamily="18" charset="0"/>
              </a:rPr>
              <a:t>Thank You</a:t>
            </a:r>
            <a:endParaRPr lang="en-IN" sz="9600" dirty="0">
              <a:solidFill>
                <a:schemeClr val="tx2">
                  <a:lumMod val="25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611C9AE-4BE9-359B-4378-F089390FA4EB}"/>
              </a:ext>
            </a:extLst>
          </p:cNvPr>
          <p:cNvSpPr txBox="1"/>
          <p:nvPr/>
        </p:nvSpPr>
        <p:spPr>
          <a:xfrm rot="1503234">
            <a:off x="6148038" y="1626155"/>
            <a:ext cx="1635513" cy="1569660"/>
          </a:xfrm>
          <a:prstGeom prst="rect">
            <a:avLst/>
          </a:prstGeom>
          <a:gradFill flip="none" rotWithShape="1">
            <a:gsLst>
              <a:gs pos="100000">
                <a:schemeClr val="accent1">
                  <a:alpha val="0"/>
                  <a:lumMod val="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2700000" scaled="1"/>
            <a:tileRect/>
          </a:gradFill>
          <a:ln>
            <a:noFill/>
          </a:ln>
        </p:spPr>
        <p:txBody>
          <a:bodyPr wrap="square">
            <a:spAutoFit/>
          </a:bodyPr>
          <a:lstStyle/>
          <a:p>
            <a:r>
              <a:rPr lang="en-IN" sz="9600" dirty="0"/>
              <a:t>🦷</a:t>
            </a:r>
          </a:p>
        </p:txBody>
      </p:sp>
      <p:sp>
        <p:nvSpPr>
          <p:cNvPr id="8" name="TextBox 7">
            <a:extLst>
              <a:ext uri="{FF2B5EF4-FFF2-40B4-BE49-F238E27FC236}">
                <a16:creationId xmlns:a16="http://schemas.microsoft.com/office/drawing/2014/main" id="{B6D6FDD0-3D5C-10AB-5B53-4A2EF3D2C34B}"/>
              </a:ext>
            </a:extLst>
          </p:cNvPr>
          <p:cNvSpPr txBox="1"/>
          <p:nvPr/>
        </p:nvSpPr>
        <p:spPr>
          <a:xfrm rot="19365510">
            <a:off x="6425935" y="845872"/>
            <a:ext cx="1568385" cy="1015663"/>
          </a:xfrm>
          <a:prstGeom prst="rect">
            <a:avLst/>
          </a:prstGeom>
          <a:noFill/>
        </p:spPr>
        <p:txBody>
          <a:bodyPr wrap="square">
            <a:spAutoFit/>
          </a:bodyPr>
          <a:lstStyle/>
          <a:p>
            <a:r>
              <a:rPr lang="en-IN" sz="6000" dirty="0"/>
              <a:t>🦷</a:t>
            </a:r>
          </a:p>
        </p:txBody>
      </p:sp>
      <p:sp>
        <p:nvSpPr>
          <p:cNvPr id="9" name="TextBox 8">
            <a:extLst>
              <a:ext uri="{FF2B5EF4-FFF2-40B4-BE49-F238E27FC236}">
                <a16:creationId xmlns:a16="http://schemas.microsoft.com/office/drawing/2014/main" id="{C5697764-83EC-8C7A-11D9-3C21BD601ECA}"/>
              </a:ext>
            </a:extLst>
          </p:cNvPr>
          <p:cNvSpPr txBox="1"/>
          <p:nvPr/>
        </p:nvSpPr>
        <p:spPr>
          <a:xfrm>
            <a:off x="840059" y="3024524"/>
            <a:ext cx="3873190" cy="646331"/>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Any Suggestions?</a:t>
            </a:r>
            <a:endParaRPr lang="en-IN"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3009997"/>
      </p:ext>
    </p:extLst>
  </p:cSld>
  <p:clrMapOvr>
    <a:masterClrMapping/>
  </p:clrMapOvr>
</p:sld>
</file>

<file path=ppt/theme/theme1.xml><?xml version="1.0" encoding="utf-8"?>
<a:theme xmlns:a="http://schemas.openxmlformats.org/drawingml/2006/main" name="Tips to Prevent Tooth Sensitivity by Slidesgo">
  <a:themeElements>
    <a:clrScheme name="Simple Light">
      <a:dk1>
        <a:srgbClr val="000000"/>
      </a:dk1>
      <a:lt1>
        <a:srgbClr val="FFFFFF"/>
      </a:lt1>
      <a:dk2>
        <a:srgbClr val="666666"/>
      </a:dk2>
      <a:lt2>
        <a:srgbClr val="DEEAF7"/>
      </a:lt2>
      <a:accent1>
        <a:srgbClr val="DAF2FF"/>
      </a:accent1>
      <a:accent2>
        <a:srgbClr val="3C84C4"/>
      </a:accent2>
      <a:accent3>
        <a:srgbClr val="22B6E3"/>
      </a:accent3>
      <a:accent4>
        <a:srgbClr val="7BCEE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759</TotalTime>
  <Words>1574</Words>
  <Application>Microsoft Office PowerPoint</Application>
  <PresentationFormat>On-screen Show (16:9)</PresentationFormat>
  <Paragraphs>244</Paragraphs>
  <Slides>23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Cuprum</vt:lpstr>
      <vt:lpstr>Courier New</vt:lpstr>
      <vt:lpstr>Times New Roman</vt:lpstr>
      <vt:lpstr>Helvetica</vt:lpstr>
      <vt:lpstr>Wingdings</vt:lpstr>
      <vt:lpstr>Didact Gothic</vt:lpstr>
      <vt:lpstr>Calibri</vt:lpstr>
      <vt:lpstr>Tips to Prevent Tooth Sensitivity by Slidesgo</vt:lpstr>
      <vt:lpstr>Improved Integrated Deep Learning Framework with Support Vector Machine for Dental Health Analysis</vt:lpstr>
      <vt:lpstr>Abstract</vt:lpstr>
      <vt:lpstr>Introduction</vt:lpstr>
      <vt:lpstr>Literature Review</vt:lpstr>
      <vt:lpstr>Literature Review</vt:lpstr>
      <vt:lpstr>PowerPoint Presentation</vt:lpstr>
      <vt:lpstr>PowerPoint Presentation</vt:lpstr>
      <vt:lpstr>PowerPoint Presentation</vt:lpstr>
      <vt:lpstr>Observations</vt:lpstr>
      <vt:lpstr>PowerPoint Presentation</vt:lpstr>
      <vt:lpstr>Architecture of ResNet50+SVM</vt:lpstr>
      <vt:lpstr>Dataset used</vt:lpstr>
      <vt:lpstr>Methodology</vt:lpstr>
      <vt:lpstr>PowerPoint Presentation</vt:lpstr>
      <vt:lpstr>Comparison models</vt:lpstr>
      <vt:lpstr>PowerPoint Presentation</vt:lpstr>
      <vt:lpstr>Metrics of comparison models </vt:lpstr>
      <vt:lpstr>Results</vt:lpstr>
      <vt:lpstr>PowerPoint Presentation</vt:lpstr>
      <vt:lpstr>Requirements</vt:lpstr>
      <vt:lpstr>Future Scope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surarapu sravani</dc:creator>
  <cp:lastModifiedBy>surarapu sravani</cp:lastModifiedBy>
  <cp:revision>6</cp:revision>
  <dcterms:modified xsi:type="dcterms:W3CDTF">2026-08-13T03:11:10Z</dcterms:modified>
</cp:coreProperties>
</file>